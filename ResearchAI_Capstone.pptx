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16.png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5.pn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15.png"/><Relationship Id="rId2" Type="http://schemas.openxmlformats.org/officeDocument/2006/relationships/image" Target="../media/image24.pn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16.png"/><Relationship Id="rId2" Type="http://schemas.openxmlformats.org/officeDocument/2006/relationships/image" Target="../media/image25.png"/><Relationship Id="rId1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1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9.png"/><Relationship Id="rId3" Type="http://schemas.openxmlformats.org/officeDocument/2006/relationships/image" Target="../media/image27.png"/><Relationship Id="rId2" Type="http://schemas.openxmlformats.org/officeDocument/2006/relationships/image" Target="../media/image10.png"/><Relationship Id="rId1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19.png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2.png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132F52"/>
          </a:solidFill>
        </p:spPr>
      </p:sp>
      <p:sp>
        <p:nvSpPr>
          <p:cNvPr id="3" name="Shape 1"/>
          <p:cNvSpPr/>
          <p:nvPr/>
        </p:nvSpPr>
        <p:spPr>
          <a:xfrm>
            <a:off x="10515600" y="4297680"/>
            <a:ext cx="2743200" cy="2743200"/>
          </a:xfrm>
          <a:prstGeom prst="ellipse">
            <a:avLst/>
          </a:prstGeom>
          <a:solidFill>
            <a:srgbClr val="1C7293">
              <a:alpha val="5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822960" y="1115060"/>
            <a:ext cx="868680" cy="868680"/>
          </a:xfrm>
          <a:prstGeom prst="ellipse">
            <a:avLst/>
          </a:prstGeom>
          <a:solidFill>
            <a:srgbClr val="2EC4B6"/>
          </a:solidFill>
        </p:spPr>
      </p:sp>
      <p:pic>
        <p:nvPicPr>
          <p:cNvPr id="5" name="Image 0" descr="icons/bra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8413" y="13105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286000"/>
            <a:ext cx="9601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kern="0" spc="20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RESEARCHAI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822960" y="3246120"/>
            <a:ext cx="8961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F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Intelligent Document Interaction via Local Retrieval-Augmented Generation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3931920"/>
            <a:ext cx="1005840" cy="0"/>
          </a:xfrm>
          <a:prstGeom prst="line">
            <a:avLst/>
          </a:prstGeom>
          <a:noFill/>
          <a:ln w="38100">
            <a:solidFill>
              <a:srgbClr val="2EC4B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4206240"/>
            <a:ext cx="457200" cy="4572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0" name="Image 1" descr="icons/u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30" y="430911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89888" y="4279392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IN" altLang="en-US" sz="1600" dirty="0">
                <a:solidFill>
                  <a:schemeClr val="bg1"/>
                </a:solidFill>
              </a:rPr>
              <a:t>LOCHANA R</a:t>
            </a:r>
            <a:endParaRPr lang="en-IN" altLang="en-US" sz="1600" dirty="0">
              <a:solidFill>
                <a:schemeClr val="bg1"/>
              </a:solidFill>
            </a:endParaRPr>
          </a:p>
        </p:txBody>
      </p:sp>
      <p:sp>
        <p:nvSpPr>
          <p:cNvPr id="12" name="Shape 8"/>
          <p:cNvSpPr/>
          <p:nvPr/>
        </p:nvSpPr>
        <p:spPr>
          <a:xfrm>
            <a:off x="4206240" y="4206240"/>
            <a:ext cx="457200" cy="4572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3" name="Image 2" descr="icons/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9110" y="430911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73295" y="4279265"/>
            <a:ext cx="3810635" cy="3841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GENAI PINNACLE PLUS PROGRAM</a:t>
            </a:r>
            <a:endParaRPr lang="en-US" sz="1600" dirty="0">
              <a:solidFill>
                <a:schemeClr val="bg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5F7B9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  •  LANGCHAIN  •  FAISS  •  GEMINI</a:t>
            </a:r>
            <a:endParaRPr lang="en-US" sz="1100" dirty="0"/>
          </a:p>
        </p:txBody>
      </p:sp>
      <p:pic>
        <p:nvPicPr>
          <p:cNvPr id="1032" name="Picture 8" descr="SNS College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1070" y="91050"/>
            <a:ext cx="914400" cy="686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NS Log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017" y="133350"/>
            <a:ext cx="914400" cy="53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02513"/>
            <a:ext cx="9144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C4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5410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6F9FA"/>
          </a:solidFill>
          <a:ln w="12700">
            <a:solidFill>
              <a:srgbClr val="E3EA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6" name="Image 0" descr="icons/clo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978" y="224713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26080"/>
            <a:ext cx="3063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Context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3337560"/>
            <a:ext cx="3063240" cy="2377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Researchers and professionals spend excessive time sifting through dense, lengthy PDF academic papers and reports to find specific data points, code blocks, or conclusions.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178308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6F9FA"/>
          </a:solidFill>
          <a:ln w="12700">
            <a:solidFill>
              <a:srgbClr val="E3EA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3440" y="2103120"/>
            <a:ext cx="640080" cy="64008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1" name="Image 1" descr="icons/bullsey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458" y="224713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2926080"/>
            <a:ext cx="3063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663440" y="3337560"/>
            <a:ext cx="3063240" cy="2377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an AI-powered assistant that instantly answers natural language queries based strictly on uploaded documents — without hallucinating facts.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0" y="178308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6F9FA"/>
          </a:solidFill>
          <a:ln w="12700">
            <a:solidFill>
              <a:srgbClr val="E3EA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503920" y="2103120"/>
            <a:ext cx="640080" cy="64008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6" name="Image 2" descr="icons/com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7938" y="2247138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2926080"/>
            <a:ext cx="3063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Case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503920" y="3337560"/>
            <a:ext cx="3063240" cy="2377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local Retrieval-Augmented Generation (RAG) system where users chat with complex PDFs and receive answers backed by transparent, verifiable inline citations.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ResearchAI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  <p:pic>
        <p:nvPicPr>
          <p:cNvPr id="1032" name="Picture 8" descr="SNS College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0" y="115815"/>
            <a:ext cx="914400" cy="686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NS Log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047" y="115570"/>
            <a:ext cx="914400" cy="53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6798"/>
            <a:ext cx="9144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C4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End-to-End RAG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79257" y="1691640"/>
            <a:ext cx="56692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4B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79257" y="2148840"/>
            <a:ext cx="566928" cy="566928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6" name="Image 0" descr="icons/uplo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816" y="2276399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862072"/>
            <a:ext cx="147388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Ingestion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172968"/>
            <a:ext cx="1473882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80" dirty="0">
                <a:solidFill>
                  <a:srgbClr val="AFC6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PDF uploaded via Streamlit UI.</a:t>
            </a:r>
            <a:endParaRPr lang="en-US" sz="880" dirty="0"/>
          </a:p>
        </p:txBody>
      </p:sp>
      <p:pic>
        <p:nvPicPr>
          <p:cNvPr id="9" name="Image 1" descr="icons/arrow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226" y="2295144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90299" y="1691640"/>
            <a:ext cx="56692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4B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2590299" y="2148840"/>
            <a:ext cx="566928" cy="566928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2" name="Image 2" descr="icons/fileLi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7858" y="2276399"/>
            <a:ext cx="311810" cy="31181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068242" y="2862072"/>
            <a:ext cx="147388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Extraction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2068242" y="3172968"/>
            <a:ext cx="1473882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80" dirty="0">
                <a:solidFill>
                  <a:srgbClr val="AFC6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pymupdf4llm parses into structured Markdown.</a:t>
            </a:r>
            <a:endParaRPr lang="en-US" sz="880" dirty="0"/>
          </a:p>
        </p:txBody>
      </p:sp>
      <p:pic>
        <p:nvPicPr>
          <p:cNvPr id="15" name="Image 3" descr="icons/arrow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1268" y="2295144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201341" y="1691640"/>
            <a:ext cx="56692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4B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4201341" y="2148840"/>
            <a:ext cx="566928" cy="566928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8" name="Image 4" descr="icons/scisso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8900" y="2276399"/>
            <a:ext cx="311810" cy="31181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679284" y="2862072"/>
            <a:ext cx="147388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Chunking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3679284" y="3172968"/>
            <a:ext cx="1473882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80" dirty="0">
                <a:solidFill>
                  <a:srgbClr val="AFC6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LangChain MarkdownTextSplitter divides text.</a:t>
            </a:r>
            <a:endParaRPr lang="en-US" sz="880" dirty="0"/>
          </a:p>
        </p:txBody>
      </p:sp>
      <p:pic>
        <p:nvPicPr>
          <p:cNvPr id="21" name="Image 5" descr="icons/arrow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311" y="2295144"/>
            <a:ext cx="237744" cy="23774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812384" y="1691640"/>
            <a:ext cx="56692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4B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Shape 15"/>
          <p:cNvSpPr/>
          <p:nvPr/>
        </p:nvSpPr>
        <p:spPr>
          <a:xfrm>
            <a:off x="5812384" y="2148840"/>
            <a:ext cx="566928" cy="566928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4" name="Image 6" descr="icons/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942" y="2276399"/>
            <a:ext cx="311810" cy="31181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290327" y="2862072"/>
            <a:ext cx="147388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Embedding</a:t>
            </a:r>
            <a:endParaRPr lang="en-US" sz="1200" dirty="0"/>
          </a:p>
        </p:txBody>
      </p:sp>
      <p:sp>
        <p:nvSpPr>
          <p:cNvPr id="26" name="Text 17"/>
          <p:cNvSpPr/>
          <p:nvPr/>
        </p:nvSpPr>
        <p:spPr>
          <a:xfrm>
            <a:off x="5290327" y="3172968"/>
            <a:ext cx="1473882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80" dirty="0">
                <a:solidFill>
                  <a:srgbClr val="AFC6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 chunks converted to vectors.</a:t>
            </a:r>
            <a:endParaRPr lang="en-US" sz="880" dirty="0"/>
          </a:p>
        </p:txBody>
      </p:sp>
      <p:pic>
        <p:nvPicPr>
          <p:cNvPr id="27" name="Image 7" descr="icons/arrow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53" y="2295144"/>
            <a:ext cx="237744" cy="237744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7423426" y="1691640"/>
            <a:ext cx="56692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4B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Shape 19"/>
          <p:cNvSpPr/>
          <p:nvPr/>
        </p:nvSpPr>
        <p:spPr>
          <a:xfrm>
            <a:off x="7423426" y="2148840"/>
            <a:ext cx="566928" cy="566928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30" name="Image 8" descr="icons/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0985" y="2276399"/>
            <a:ext cx="311810" cy="31181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6901369" y="2862072"/>
            <a:ext cx="147388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Storage</a:t>
            </a:r>
            <a:endParaRPr lang="en-US" sz="1200" dirty="0"/>
          </a:p>
        </p:txBody>
      </p:sp>
      <p:sp>
        <p:nvSpPr>
          <p:cNvPr id="32" name="Text 21"/>
          <p:cNvSpPr/>
          <p:nvPr/>
        </p:nvSpPr>
        <p:spPr>
          <a:xfrm>
            <a:off x="6901369" y="3172968"/>
            <a:ext cx="1473882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80" dirty="0">
                <a:solidFill>
                  <a:srgbClr val="AFC6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Vectors stored in local FAISS database.</a:t>
            </a:r>
            <a:endParaRPr lang="en-US" sz="880" dirty="0"/>
          </a:p>
        </p:txBody>
      </p:sp>
      <p:pic>
        <p:nvPicPr>
          <p:cNvPr id="33" name="Image 9" descr="icons/arrow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4395" y="2295144"/>
            <a:ext cx="237744" cy="237744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9034468" y="1691640"/>
            <a:ext cx="56692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4B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1500" dirty="0"/>
          </a:p>
        </p:txBody>
      </p:sp>
      <p:sp>
        <p:nvSpPr>
          <p:cNvPr id="35" name="Shape 23"/>
          <p:cNvSpPr/>
          <p:nvPr/>
        </p:nvSpPr>
        <p:spPr>
          <a:xfrm>
            <a:off x="9034468" y="2148840"/>
            <a:ext cx="566928" cy="566928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36" name="Image 10" descr="icons/filt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2027" y="2276399"/>
            <a:ext cx="311810" cy="311810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8512411" y="2862072"/>
            <a:ext cx="147388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Retrieval</a:t>
            </a:r>
            <a:endParaRPr lang="en-US" sz="1200" dirty="0"/>
          </a:p>
        </p:txBody>
      </p:sp>
      <p:sp>
        <p:nvSpPr>
          <p:cNvPr id="38" name="Text 25"/>
          <p:cNvSpPr/>
          <p:nvPr/>
        </p:nvSpPr>
        <p:spPr>
          <a:xfrm>
            <a:off x="8512411" y="3172968"/>
            <a:ext cx="1473882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80" dirty="0">
                <a:solidFill>
                  <a:srgbClr val="AFC6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Query vectorized; FAISS returns top K chunks.</a:t>
            </a:r>
            <a:endParaRPr lang="en-US" sz="880" dirty="0"/>
          </a:p>
        </p:txBody>
      </p:sp>
      <p:pic>
        <p:nvPicPr>
          <p:cNvPr id="39" name="Image 11" descr="icons/arrow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5437" y="2295144"/>
            <a:ext cx="237744" cy="237744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10645510" y="1691640"/>
            <a:ext cx="56692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4B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</a:t>
            </a:r>
            <a:endParaRPr lang="en-US" sz="1500" dirty="0"/>
          </a:p>
        </p:txBody>
      </p:sp>
      <p:sp>
        <p:nvSpPr>
          <p:cNvPr id="41" name="Shape 27"/>
          <p:cNvSpPr/>
          <p:nvPr/>
        </p:nvSpPr>
        <p:spPr>
          <a:xfrm>
            <a:off x="10645510" y="2148840"/>
            <a:ext cx="566928" cy="566928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42" name="Image 12" descr="icons/bol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73069" y="2276399"/>
            <a:ext cx="311810" cy="311810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10123453" y="2862072"/>
            <a:ext cx="147388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Generation</a:t>
            </a:r>
            <a:endParaRPr lang="en-US" sz="1200" dirty="0"/>
          </a:p>
        </p:txBody>
      </p:sp>
      <p:sp>
        <p:nvSpPr>
          <p:cNvPr id="44" name="Text 29"/>
          <p:cNvSpPr/>
          <p:nvPr/>
        </p:nvSpPr>
        <p:spPr>
          <a:xfrm>
            <a:off x="10123453" y="3172968"/>
            <a:ext cx="1473882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80" dirty="0">
                <a:solidFill>
                  <a:srgbClr val="AFC6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Gemini LLM answers using retrieved context only.</a:t>
            </a:r>
            <a:endParaRPr lang="en-US" sz="880" dirty="0"/>
          </a:p>
        </p:txBody>
      </p:sp>
      <p:sp>
        <p:nvSpPr>
          <p:cNvPr id="45" name="Shape 30"/>
          <p:cNvSpPr/>
          <p:nvPr/>
        </p:nvSpPr>
        <p:spPr>
          <a:xfrm>
            <a:off x="548640" y="5120640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132F52"/>
          </a:solidFill>
        </p:spPr>
      </p:sp>
      <p:sp>
        <p:nvSpPr>
          <p:cNvPr id="46" name="Text 31"/>
          <p:cNvSpPr/>
          <p:nvPr/>
        </p:nvSpPr>
        <p:spPr>
          <a:xfrm>
            <a:off x="822960" y="5120640"/>
            <a:ext cx="10545775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2EC4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answer is generated using a strict prompt based only on retrieved context — eliminating hallucination by design.</a:t>
            </a:r>
            <a:endParaRPr lang="en-US" sz="1300" dirty="0"/>
          </a:p>
        </p:txBody>
      </p:sp>
      <p:sp>
        <p:nvSpPr>
          <p:cNvPr id="51" name="Text 3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6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ResearchAI</a:t>
            </a:r>
            <a:endParaRPr lang="en-US" sz="900" dirty="0"/>
          </a:p>
        </p:txBody>
      </p:sp>
      <p:sp>
        <p:nvSpPr>
          <p:cNvPr id="52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  <p:pic>
        <p:nvPicPr>
          <p:cNvPr id="1032" name="Picture 8" descr="SNS College Logo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5195" y="110100"/>
            <a:ext cx="914400" cy="686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NS Logo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192" y="133350"/>
            <a:ext cx="914400" cy="53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553"/>
            <a:ext cx="9144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C4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&amp; CHUNKING —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95375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&amp; Extraction Strategy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DETAILS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6035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7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User-provided PDF documents — academic research papers, technical manuals, and reports.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907792"/>
            <a:ext cx="548640" cy="548640"/>
          </a:xfrm>
          <a:prstGeom prst="ellipse">
            <a:avLst/>
          </a:prstGeom>
          <a:solidFill>
            <a:srgbClr val="5C7080"/>
          </a:solidFill>
        </p:spPr>
      </p:sp>
      <p:pic>
        <p:nvPicPr>
          <p:cNvPr id="8" name="Image 0" descr="icons/warn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3031236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566160"/>
            <a:ext cx="3063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Traditional Loaders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3931920"/>
            <a:ext cx="30632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Tools like PyPDF2 mangle tables and multi-column layouts, losing structure.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43400" y="265176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0B2545"/>
          </a:solidFill>
        </p:spPr>
      </p:sp>
      <p:sp>
        <p:nvSpPr>
          <p:cNvPr id="12" name="Shape 9"/>
          <p:cNvSpPr/>
          <p:nvPr/>
        </p:nvSpPr>
        <p:spPr>
          <a:xfrm>
            <a:off x="4572000" y="2907792"/>
            <a:ext cx="548640" cy="548640"/>
          </a:xfrm>
          <a:prstGeom prst="ellipse">
            <a:avLst/>
          </a:prstGeom>
          <a:solidFill>
            <a:srgbClr val="2EC4B6"/>
          </a:solidFill>
        </p:spPr>
      </p:sp>
      <p:pic>
        <p:nvPicPr>
          <p:cNvPr id="13" name="Image 1" descr="icons/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5444" y="3031236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3566160"/>
            <a:ext cx="3063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pymupdf4llm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72000" y="3931920"/>
            <a:ext cx="30632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Extracts pages natively into structured Markdown — our chosen strategy.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92440" y="169164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1C7293"/>
          </a:solidFill>
        </p:spPr>
      </p:sp>
      <p:sp>
        <p:nvSpPr>
          <p:cNvPr id="17" name="Shape 13"/>
          <p:cNvSpPr/>
          <p:nvPr/>
        </p:nvSpPr>
        <p:spPr>
          <a:xfrm>
            <a:off x="8366760" y="2011680"/>
            <a:ext cx="594360" cy="594360"/>
          </a:xfrm>
          <a:prstGeom prst="ellipse">
            <a:avLst/>
          </a:prstGeom>
          <a:solidFill>
            <a:srgbClr val="0B2545"/>
          </a:solidFill>
        </p:spPr>
      </p:sp>
      <p:pic>
        <p:nvPicPr>
          <p:cNvPr id="18" name="Image 2" descr="icons/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0491" y="2145411"/>
            <a:ext cx="326898" cy="32689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66760" y="2743200"/>
            <a:ext cx="3017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Why?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366760" y="3154680"/>
            <a:ext cx="301752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AF6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ensures tables, lists, and code blocks remain structurally intact — making the LLM far more capable of understanding complex data formats.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ResearchAI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  <p:pic>
        <p:nvPicPr>
          <p:cNvPr id="1032" name="Picture 8" descr="SNS College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0" y="173600"/>
            <a:ext cx="914400" cy="686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NS Log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417" y="147320"/>
            <a:ext cx="914400" cy="53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58698"/>
            <a:ext cx="9144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C4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&amp; CHUNKING — 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Chunking Strategy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Strategy Chosen: </a:t>
            </a:r>
            <a:r>
              <a:rPr lang="en-US" sz="14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LangChain MarkdownTextSplitter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40680" cy="2103120"/>
          </a:xfrm>
          <a:prstGeom prst="roundRect">
            <a:avLst>
              <a:gd name="adj" fmla="val 4348"/>
            </a:avLst>
          </a:prstGeom>
          <a:solidFill>
            <a:srgbClr val="F6F9FA"/>
          </a:solidFill>
          <a:ln w="12700">
            <a:solidFill>
              <a:srgbClr val="E3EA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514600"/>
            <a:ext cx="502920" cy="5029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7" name="Image 0" descr="icons/scissor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397" y="262775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542032"/>
            <a:ext cx="4251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Strategy A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3154680"/>
            <a:ext cx="4983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1000 characters / 200 overlap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3566160"/>
            <a:ext cx="4983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for general Q&amp;A and concentrated snippets.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63640" y="2286000"/>
            <a:ext cx="5440680" cy="2103120"/>
          </a:xfrm>
          <a:prstGeom prst="roundRect">
            <a:avLst>
              <a:gd name="adj" fmla="val 4348"/>
            </a:avLst>
          </a:prstGeom>
          <a:solidFill>
            <a:srgbClr val="F6F9FA"/>
          </a:solidFill>
          <a:ln w="12700">
            <a:solidFill>
              <a:srgbClr val="E3EA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92240" y="2514600"/>
            <a:ext cx="502920" cy="5029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3" name="Image 1" descr="icons/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397" y="2627757"/>
            <a:ext cx="276606" cy="27660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78040" y="2542032"/>
            <a:ext cx="4251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Strategy B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492240" y="3154680"/>
            <a:ext cx="4983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1500 characters / 300 overlap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492240" y="3566160"/>
            <a:ext cx="4983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for long code blocks or continuous arguments.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48640" y="470916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0B2545"/>
          </a:solidFill>
        </p:spPr>
      </p:sp>
      <p:sp>
        <p:nvSpPr>
          <p:cNvPr id="18" name="Shape 14"/>
          <p:cNvSpPr/>
          <p:nvPr/>
        </p:nvSpPr>
        <p:spPr>
          <a:xfrm>
            <a:off x="822960" y="4983480"/>
            <a:ext cx="685800" cy="685800"/>
          </a:xfrm>
          <a:prstGeom prst="ellipse">
            <a:avLst/>
          </a:prstGeom>
          <a:solidFill>
            <a:srgbClr val="2EC4B6"/>
          </a:solidFill>
        </p:spPr>
      </p:sp>
      <p:pic>
        <p:nvPicPr>
          <p:cNvPr id="19" name="Image 2" descr="icons/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265" y="5137785"/>
            <a:ext cx="377190" cy="37719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91640" y="4892040"/>
            <a:ext cx="96012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MarkdownTextSplitter?  </a:t>
            </a:r>
            <a:r>
              <a:rPr lang="en-US" sz="1250" dirty="0">
                <a:solidFill>
                  <a:srgbClr val="CF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Because the data is extracted as Markdown, this splitter intelligently avoids breaking chunks in the middle of a table or bulleted list — preserving semantic context.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6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ResearchAI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  <p:pic>
        <p:nvPicPr>
          <p:cNvPr id="1032" name="Picture 8" descr="SNS College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0" y="110100"/>
            <a:ext cx="914400" cy="686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NS Log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192" y="133350"/>
            <a:ext cx="914400" cy="53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87273"/>
            <a:ext cx="9144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C4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4267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Embeddings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6" name="Image 0" descr="icons/lo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13512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039112"/>
            <a:ext cx="4206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HuggingFace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08760" y="2331720"/>
            <a:ext cx="4206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EC4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BAAI/bge-small-en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77240" y="2743200"/>
            <a:ext cx="4983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7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Open-source, 100% local, runs on CPU.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77240" y="3264408"/>
            <a:ext cx="4983480" cy="0"/>
          </a:xfrm>
          <a:prstGeom prst="line">
            <a:avLst/>
          </a:prstGeom>
          <a:noFill/>
          <a:ln w="12700">
            <a:solidFill>
              <a:srgbClr val="E3EA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3383280"/>
            <a:ext cx="49834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OBSERVATION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77240" y="3611880"/>
            <a:ext cx="4983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Excellent performance for $0 API cost and zero privacy concerns.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63640" y="1783080"/>
            <a:ext cx="544068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92240" y="2011680"/>
            <a:ext cx="548640" cy="54864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5" name="Image 1" descr="icons/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684" y="2135124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23760" y="2039112"/>
            <a:ext cx="4206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Gemini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7223760" y="2331720"/>
            <a:ext cx="4206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EC4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gemini-embedding-001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6492240" y="2743200"/>
            <a:ext cx="4983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7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Commercial API with advanced semantic understanding.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492240" y="3264408"/>
            <a:ext cx="4983480" cy="0"/>
          </a:xfrm>
          <a:prstGeom prst="line">
            <a:avLst/>
          </a:prstGeom>
          <a:noFill/>
          <a:ln w="12700">
            <a:solidFill>
              <a:srgbClr val="E3EAE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492240" y="3383280"/>
            <a:ext cx="49834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OBSERVATION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6492240" y="3611880"/>
            <a:ext cx="4983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Slightly deeper context mapping, but introduces API rate limits and cost.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48640" y="45720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0B2545"/>
          </a:solidFill>
        </p:spPr>
      </p:sp>
      <p:sp>
        <p:nvSpPr>
          <p:cNvPr id="23" name="Shape 19"/>
          <p:cNvSpPr/>
          <p:nvPr/>
        </p:nvSpPr>
        <p:spPr>
          <a:xfrm>
            <a:off x="822960" y="4846320"/>
            <a:ext cx="685800" cy="685800"/>
          </a:xfrm>
          <a:prstGeom prst="ellipse">
            <a:avLst/>
          </a:prstGeom>
          <a:solidFill>
            <a:srgbClr val="2EC4B6"/>
          </a:solidFill>
        </p:spPr>
      </p:sp>
      <p:pic>
        <p:nvPicPr>
          <p:cNvPr id="24" name="Image 2" descr="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265" y="5000625"/>
            <a:ext cx="377190" cy="37719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691640" y="4709160"/>
            <a:ext cx="96012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Choice:  </a:t>
            </a:r>
            <a:r>
              <a:rPr lang="en-US" sz="1250" dirty="0">
                <a:solidFill>
                  <a:srgbClr val="CF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Provided as a configurable option to the user, but HuggingFace is the primary recommendation for local privacy and cost-efficiency.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ResearchAI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  <p:pic>
        <p:nvPicPr>
          <p:cNvPr id="1032" name="Picture 8" descr="SNS College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7580" y="99940"/>
            <a:ext cx="914400" cy="686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NS Log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192" y="133350"/>
            <a:ext cx="914400" cy="53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82828"/>
            <a:ext cx="9144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C4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STORAGE &amp; RETRIEVAL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67105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Vector DB &amp; Retrieval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6F9FA"/>
          </a:solidFill>
          <a:ln w="12700">
            <a:solidFill>
              <a:srgbClr val="E3EA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01952"/>
            <a:ext cx="548640" cy="54864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6" name="Image 0" descr="icons/databa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025396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83080"/>
            <a:ext cx="9921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FAISS (Facebook AI Similarity Search)  </a:t>
            </a:r>
            <a:r>
              <a:rPr lang="en-US" sz="12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a lightweight, strictly local, in-memory vector database. Perfect for a desktop/local web app without heavy cloud setups.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880360"/>
            <a:ext cx="5440680" cy="2423160"/>
          </a:xfrm>
          <a:prstGeom prst="roundRect">
            <a:avLst>
              <a:gd name="adj" fmla="val 3774"/>
            </a:avLst>
          </a:prstGeom>
          <a:solidFill>
            <a:srgbClr val="F6F9FA"/>
          </a:solidFill>
          <a:ln w="12700">
            <a:solidFill>
              <a:srgbClr val="E3EA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3108960"/>
            <a:ext cx="502920" cy="5029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0" name="Image 1" descr="icons/magnif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397" y="3222117"/>
            <a:ext cx="276606" cy="2766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3154680"/>
            <a:ext cx="4251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Similarity Search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777240" y="3703320"/>
            <a:ext cx="4983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Returns top chunks with the closest mathematical vector distance.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77240" y="4251960"/>
            <a:ext cx="4983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C4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Pro: High relevance.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777240" y="4572000"/>
            <a:ext cx="4983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Con: Can return redundant information.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63640" y="2880360"/>
            <a:ext cx="5440680" cy="2423160"/>
          </a:xfrm>
          <a:prstGeom prst="roundRect">
            <a:avLst>
              <a:gd name="adj" fmla="val 3774"/>
            </a:avLst>
          </a:prstGeom>
          <a:solidFill>
            <a:srgbClr val="F6F9FA"/>
          </a:solidFill>
          <a:ln w="12700">
            <a:solidFill>
              <a:srgbClr val="E3EAE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92240" y="3108960"/>
            <a:ext cx="502920" cy="5029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7" name="Image 2" descr="icons/fil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397" y="3222117"/>
            <a:ext cx="276606" cy="27660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178040" y="3154680"/>
            <a:ext cx="4251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MMR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92240" y="3703320"/>
            <a:ext cx="4983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Fetches a larger pool, then penalizes similar chunks.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492240" y="4251960"/>
            <a:ext cx="4983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C4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Pro: Diverse, well-rounded context.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492240" y="4572000"/>
            <a:ext cx="4983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Recommended for complex questions.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ResearchAI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  <p:pic>
        <p:nvPicPr>
          <p:cNvPr id="1032" name="Picture 8" descr="SNS College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0" y="110100"/>
            <a:ext cx="914400" cy="686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NS Log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192" y="133350"/>
            <a:ext cx="914400" cy="53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63778"/>
            <a:ext cx="9144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C4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ORCHESTRATION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64565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RAG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132F52"/>
          </a:solidFill>
        </p:spPr>
      </p:sp>
      <p:sp>
        <p:nvSpPr>
          <p:cNvPr id="5" name="Shape 3"/>
          <p:cNvSpPr/>
          <p:nvPr/>
        </p:nvSpPr>
        <p:spPr>
          <a:xfrm>
            <a:off x="822960" y="2057400"/>
            <a:ext cx="640080" cy="640080"/>
          </a:xfrm>
          <a:prstGeom prst="ellipse">
            <a:avLst/>
          </a:prstGeom>
          <a:solidFill>
            <a:srgbClr val="2EC4B6"/>
          </a:solidFill>
        </p:spPr>
      </p:sp>
      <p:pic>
        <p:nvPicPr>
          <p:cNvPr id="6" name="Image 0" descr="icons/netwo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978" y="220141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80360"/>
            <a:ext cx="3063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Chain Construction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3383280"/>
            <a:ext cx="306324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using LangChain Expression Language (LCEL) to seamlessly pipe retrieved context and the user query to the LLM.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9120" y="173736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132F52"/>
          </a:solidFill>
        </p:spPr>
      </p:sp>
      <p:sp>
        <p:nvSpPr>
          <p:cNvPr id="10" name="Shape 7"/>
          <p:cNvSpPr/>
          <p:nvPr/>
        </p:nvSpPr>
        <p:spPr>
          <a:xfrm>
            <a:off x="4663440" y="2057400"/>
            <a:ext cx="640080" cy="640080"/>
          </a:xfrm>
          <a:prstGeom prst="ellipse">
            <a:avLst/>
          </a:prstGeom>
          <a:solidFill>
            <a:srgbClr val="2EC4B6"/>
          </a:solidFill>
        </p:spPr>
      </p:sp>
      <p:pic>
        <p:nvPicPr>
          <p:cNvPr id="11" name="Image 1" descr="icons/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458" y="220141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2880360"/>
            <a:ext cx="3063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Template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663440" y="3383280"/>
            <a:ext cx="306324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highly constrained system prompt. Instructed to use only the provided context — if the answer is missing, it replies exactly “I don’t know.” This eliminates hallucination.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29600" y="173736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132F52"/>
          </a:solidFill>
        </p:spPr>
      </p:sp>
      <p:sp>
        <p:nvSpPr>
          <p:cNvPr id="15" name="Shape 11"/>
          <p:cNvSpPr/>
          <p:nvPr/>
        </p:nvSpPr>
        <p:spPr>
          <a:xfrm>
            <a:off x="8503920" y="2057400"/>
            <a:ext cx="640080" cy="640080"/>
          </a:xfrm>
          <a:prstGeom prst="ellipse">
            <a:avLst/>
          </a:prstGeom>
          <a:solidFill>
            <a:srgbClr val="2EC4B6"/>
          </a:solidFill>
        </p:spPr>
      </p:sp>
      <p:pic>
        <p:nvPicPr>
          <p:cNvPr id="16" name="Image 2" descr="icons/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7938" y="2201418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2880360"/>
            <a:ext cx="3063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Used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503920" y="3383280"/>
            <a:ext cx="306324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Gemini 3.1 (Flash / Lite) — chosen for optimized low latency and a large context window, ensuring fast responses even with heavy context injection.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6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ResearchAI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  <p:pic>
        <p:nvPicPr>
          <p:cNvPr id="1032" name="Picture 8" descr="SNS College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0" y="110100"/>
            <a:ext cx="914400" cy="686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NS Log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192" y="133350"/>
            <a:ext cx="914400" cy="53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58698"/>
            <a:ext cx="9144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C4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DEMONSTRATION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9187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Results &amp; Demo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" cy="54864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5" name="Image 0" descr="icons/comment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" y="1952244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810512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Sample Q&amp;A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2130552"/>
            <a:ext cx="50292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successfully answers complex queries based on the PDF.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3200400"/>
            <a:ext cx="548640" cy="54864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9" name="Image 1" descr="icons/qu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3323844"/>
            <a:ext cx="301752" cy="301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3182112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Citations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34440" y="3502152"/>
            <a:ext cx="50292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UI features “Citing Sources” dropdown expanders.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4572000"/>
            <a:ext cx="548640" cy="54864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3" name="Image 2" descr="icons/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4695444"/>
            <a:ext cx="301752" cy="3017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4553712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Verification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34440" y="4873752"/>
            <a:ext cx="50292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dynamic toggle re-opens the original PDF and renders the exact page the data was pulled from — 100% verifiability.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675120" y="1737360"/>
            <a:ext cx="493776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675120" y="1737360"/>
            <a:ext cx="4937760" cy="365760"/>
          </a:xfrm>
          <a:prstGeom prst="roundRect">
            <a:avLst>
              <a:gd name="adj" fmla="val 25000"/>
            </a:avLst>
          </a:prstGeom>
          <a:solidFill>
            <a:srgbClr val="0B2545"/>
          </a:solidFill>
        </p:spPr>
      </p:sp>
      <p:sp>
        <p:nvSpPr>
          <p:cNvPr id="18" name="Shape 13"/>
          <p:cNvSpPr/>
          <p:nvPr/>
        </p:nvSpPr>
        <p:spPr>
          <a:xfrm>
            <a:off x="6839712" y="1865376"/>
            <a:ext cx="109728" cy="109728"/>
          </a:xfrm>
          <a:prstGeom prst="ellipse">
            <a:avLst/>
          </a:prstGeom>
          <a:solidFill>
            <a:srgbClr val="F45B69"/>
          </a:solidFill>
        </p:spPr>
      </p:sp>
      <p:sp>
        <p:nvSpPr>
          <p:cNvPr id="19" name="Shape 14"/>
          <p:cNvSpPr/>
          <p:nvPr/>
        </p:nvSpPr>
        <p:spPr>
          <a:xfrm>
            <a:off x="7040880" y="1865376"/>
            <a:ext cx="109728" cy="109728"/>
          </a:xfrm>
          <a:prstGeom prst="ellipse">
            <a:avLst/>
          </a:prstGeom>
          <a:solidFill>
            <a:srgbClr val="F4C95D"/>
          </a:solidFill>
        </p:spPr>
      </p:sp>
      <p:sp>
        <p:nvSpPr>
          <p:cNvPr id="20" name="Shape 15"/>
          <p:cNvSpPr/>
          <p:nvPr/>
        </p:nvSpPr>
        <p:spPr>
          <a:xfrm>
            <a:off x="7242048" y="1865376"/>
            <a:ext cx="109728" cy="109728"/>
          </a:xfrm>
          <a:prstGeom prst="ellipse">
            <a:avLst/>
          </a:prstGeom>
          <a:solidFill>
            <a:srgbClr val="5FCB8A"/>
          </a:solidFill>
        </p:spPr>
      </p:sp>
      <p:sp>
        <p:nvSpPr>
          <p:cNvPr id="21" name="Shape 16"/>
          <p:cNvSpPr/>
          <p:nvPr/>
        </p:nvSpPr>
        <p:spPr>
          <a:xfrm>
            <a:off x="6949440" y="233172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F6F9FA"/>
          </a:solidFill>
        </p:spPr>
      </p:sp>
      <p:sp>
        <p:nvSpPr>
          <p:cNvPr id="22" name="Text 17"/>
          <p:cNvSpPr/>
          <p:nvPr/>
        </p:nvSpPr>
        <p:spPr>
          <a:xfrm>
            <a:off x="7086600" y="2331720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was the model's accuracy?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949440" y="2971800"/>
            <a:ext cx="438912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</p:spPr>
      </p:sp>
      <p:sp>
        <p:nvSpPr>
          <p:cNvPr id="24" name="Text 19"/>
          <p:cNvSpPr/>
          <p:nvPr/>
        </p:nvSpPr>
        <p:spPr>
          <a:xfrm>
            <a:off x="7132320" y="2971800"/>
            <a:ext cx="40233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achieved 94.2% accuracy on the validation set, as reported in Table 3 of the paper.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949440" y="4023360"/>
            <a:ext cx="4389120" cy="457200"/>
          </a:xfrm>
          <a:prstGeom prst="roundRect">
            <a:avLst>
              <a:gd name="adj" fmla="val 16000"/>
            </a:avLst>
          </a:prstGeom>
          <a:solidFill>
            <a:srgbClr val="F6F9FA"/>
          </a:solidFill>
          <a:ln w="12700">
            <a:solidFill>
              <a:srgbClr val="E3EAEE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059168" y="4114800"/>
            <a:ext cx="274320" cy="274320"/>
          </a:xfrm>
          <a:prstGeom prst="ellipse">
            <a:avLst/>
          </a:prstGeom>
          <a:solidFill>
            <a:srgbClr val="2EC4B6"/>
          </a:solidFill>
        </p:spPr>
      </p:sp>
      <p:pic>
        <p:nvPicPr>
          <p:cNvPr id="27" name="Image 3" descr="icons/qu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0890" y="4176522"/>
            <a:ext cx="150876" cy="15087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452360" y="4023360"/>
            <a:ext cx="3200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Citing Sources  ▾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6949440" y="4617720"/>
            <a:ext cx="4389120" cy="1371600"/>
          </a:xfrm>
          <a:prstGeom prst="roundRect">
            <a:avLst>
              <a:gd name="adj" fmla="val 5333"/>
            </a:avLst>
          </a:prstGeom>
          <a:solidFill>
            <a:srgbClr val="0B2545"/>
          </a:solidFill>
        </p:spPr>
      </p:sp>
      <p:sp>
        <p:nvSpPr>
          <p:cNvPr id="30" name="Shape 24"/>
          <p:cNvSpPr/>
          <p:nvPr/>
        </p:nvSpPr>
        <p:spPr>
          <a:xfrm>
            <a:off x="7178040" y="4846320"/>
            <a:ext cx="457200" cy="457200"/>
          </a:xfrm>
          <a:prstGeom prst="ellipse">
            <a:avLst/>
          </a:prstGeom>
          <a:solidFill>
            <a:srgbClr val="2EC4B6"/>
          </a:solidFill>
        </p:spPr>
      </p:sp>
      <p:pic>
        <p:nvPicPr>
          <p:cNvPr id="31" name="Image 4" descr="icons/fileLin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0910" y="4949190"/>
            <a:ext cx="251460" cy="2514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772400" y="4846320"/>
            <a:ext cx="3291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Page Render — Page 7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7772400" y="5166360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FC6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 3: Model Performance Metrics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7178040" y="5532120"/>
            <a:ext cx="3931920" cy="320040"/>
          </a:xfrm>
          <a:prstGeom prst="rect">
            <a:avLst/>
          </a:prstGeom>
          <a:solidFill>
            <a:srgbClr val="132F52"/>
          </a:solidFill>
        </p:spPr>
      </p:sp>
      <p:sp>
        <p:nvSpPr>
          <p:cNvPr id="39" name="Text 3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ResearchAI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  <p:pic>
        <p:nvPicPr>
          <p:cNvPr id="1032" name="Picture 8" descr="SNS College Log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4240" y="115180"/>
            <a:ext cx="914400" cy="686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NS Logo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192" y="133350"/>
            <a:ext cx="914400" cy="53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833"/>
            <a:ext cx="9144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C4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STRETCH GOAL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136015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Multimodal Image Extraction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4023360"/>
          </a:xfrm>
          <a:prstGeom prst="roundRect">
            <a:avLst>
              <a:gd name="adj" fmla="val 2532"/>
            </a:avLst>
          </a:prstGeom>
          <a:solidFill>
            <a:srgbClr val="132F52"/>
          </a:solidFill>
        </p:spPr>
      </p:sp>
      <p:sp>
        <p:nvSpPr>
          <p:cNvPr id="5" name="Text 3"/>
          <p:cNvSpPr/>
          <p:nvPr/>
        </p:nvSpPr>
        <p:spPr>
          <a:xfrm>
            <a:off x="822960" y="201168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C4B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640080" cy="64008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7" name="Image 0" descr="icons/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978" y="2612898"/>
            <a:ext cx="352044" cy="3520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291840"/>
            <a:ext cx="3063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Was Built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749040"/>
            <a:ext cx="306324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Alongside text, the system uses fitz to locate and extract every chart, graph, and image from the PDF.</a:t>
            </a:r>
            <a:endParaRPr lang="en-US" sz="1150" dirty="0"/>
          </a:p>
        </p:txBody>
      </p:sp>
      <p:pic>
        <p:nvPicPr>
          <p:cNvPr id="10" name="Image 1" descr="icons/arrow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808" y="3675888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389120" y="1783080"/>
            <a:ext cx="3611880" cy="4023360"/>
          </a:xfrm>
          <a:prstGeom prst="roundRect">
            <a:avLst>
              <a:gd name="adj" fmla="val 2532"/>
            </a:avLst>
          </a:prstGeom>
          <a:solidFill>
            <a:srgbClr val="132F52"/>
          </a:solidFill>
        </p:spPr>
      </p:sp>
      <p:sp>
        <p:nvSpPr>
          <p:cNvPr id="12" name="Text 8"/>
          <p:cNvSpPr/>
          <p:nvPr/>
        </p:nvSpPr>
        <p:spPr>
          <a:xfrm>
            <a:off x="4663440" y="201168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C4B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4663440" y="2468880"/>
            <a:ext cx="640080" cy="64008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4" name="Image 2" descr="icons/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7458" y="2612898"/>
            <a:ext cx="352044" cy="3520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63440" y="3291840"/>
            <a:ext cx="3063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Vision AI Summary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4663440" y="3749040"/>
            <a:ext cx="306324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 images are sent to Gemini Vision AI, which generates a detailed text summary of the visual data.</a:t>
            </a:r>
            <a:endParaRPr lang="en-US" sz="1150" dirty="0"/>
          </a:p>
        </p:txBody>
      </p:sp>
      <p:pic>
        <p:nvPicPr>
          <p:cNvPr id="17" name="Image 3" descr="icons/arrow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288" y="3675888"/>
            <a:ext cx="201168" cy="20116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229600" y="1783080"/>
            <a:ext cx="3611880" cy="4023360"/>
          </a:xfrm>
          <a:prstGeom prst="roundRect">
            <a:avLst>
              <a:gd name="adj" fmla="val 2532"/>
            </a:avLst>
          </a:prstGeom>
          <a:solidFill>
            <a:srgbClr val="132F52"/>
          </a:solidFill>
        </p:spPr>
      </p:sp>
      <p:sp>
        <p:nvSpPr>
          <p:cNvPr id="19" name="Text 13"/>
          <p:cNvSpPr/>
          <p:nvPr/>
        </p:nvSpPr>
        <p:spPr>
          <a:xfrm>
            <a:off x="8503920" y="201168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C4B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Shape 14"/>
          <p:cNvSpPr/>
          <p:nvPr/>
        </p:nvSpPr>
        <p:spPr>
          <a:xfrm>
            <a:off x="8503920" y="2468880"/>
            <a:ext cx="640080" cy="64008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1" name="Image 4" descr="icons/chart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7938" y="2612898"/>
            <a:ext cx="352044" cy="35204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503920" y="3291840"/>
            <a:ext cx="3063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Enhanced Retrieval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8503920" y="3749040"/>
            <a:ext cx="306324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Summaries are embedded into the vector database — letting the RAG system answer questions about charts and graphs, not just raw text.</a:t>
            </a:r>
            <a:endParaRPr lang="en-US" sz="1150" dirty="0"/>
          </a:p>
        </p:txBody>
      </p:sp>
      <p:sp>
        <p:nvSpPr>
          <p:cNvPr id="28" name="Text 1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6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ResearchAI</a:t>
            </a:r>
            <a:endParaRPr lang="en-US" sz="900" dirty="0"/>
          </a:p>
        </p:txBody>
      </p:sp>
      <p:sp>
        <p:nvSpPr>
          <p:cNvPr id="29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  <p:pic>
        <p:nvPicPr>
          <p:cNvPr id="1032" name="Picture 8" descr="SNS College Log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0" y="115815"/>
            <a:ext cx="914400" cy="686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NS Logo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192" y="133350"/>
            <a:ext cx="914400" cy="53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0448"/>
            <a:ext cx="9144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C4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RETROSPECTIVE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8331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Challenges &amp; Learnings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6F9FA"/>
          </a:solidFill>
          <a:ln w="12700">
            <a:solidFill>
              <a:srgbClr val="E3EA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39112"/>
            <a:ext cx="548640" cy="54864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6" name="Image 0" descr="icons/warn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7627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47672"/>
            <a:ext cx="4206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 1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508760" y="2203704"/>
            <a:ext cx="4206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PDF Table / Formatting Corruption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989320" y="1965960"/>
            <a:ext cx="0" cy="1005840"/>
          </a:xfrm>
          <a:prstGeom prst="line">
            <a:avLst/>
          </a:prstGeom>
          <a:noFill/>
          <a:ln w="12700">
            <a:solidFill>
              <a:srgbClr val="E3EA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63640" y="2039112"/>
            <a:ext cx="548640" cy="548640"/>
          </a:xfrm>
          <a:prstGeom prst="ellipse">
            <a:avLst/>
          </a:prstGeom>
          <a:solidFill>
            <a:srgbClr val="0B2545"/>
          </a:solidFill>
        </p:spPr>
      </p:sp>
      <p:pic>
        <p:nvPicPr>
          <p:cNvPr id="11" name="Image 1" descr="icons/lightbu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7627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95160" y="1947672"/>
            <a:ext cx="4389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EC4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RESOLUTION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6995160" y="2203704"/>
            <a:ext cx="43891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Switched from standard loaders to pymupdf4llm to preserve data as Markdown.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33756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6F9FA"/>
          </a:solidFill>
          <a:ln w="12700">
            <a:solidFill>
              <a:srgbClr val="E3EA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3593592"/>
            <a:ext cx="548640" cy="54864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6" name="Image 2" descr="icons/warn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73075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502152"/>
            <a:ext cx="4206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 2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1508760" y="3758184"/>
            <a:ext cx="4206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Rate Limits with Gemini Embeddings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989320" y="3520440"/>
            <a:ext cx="0" cy="1005840"/>
          </a:xfrm>
          <a:prstGeom prst="line">
            <a:avLst/>
          </a:prstGeom>
          <a:noFill/>
          <a:ln w="12700">
            <a:solidFill>
              <a:srgbClr val="E3EAE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263640" y="3593592"/>
            <a:ext cx="548640" cy="548640"/>
          </a:xfrm>
          <a:prstGeom prst="ellipse">
            <a:avLst/>
          </a:prstGeom>
          <a:solidFill>
            <a:srgbClr val="0B2545"/>
          </a:solidFill>
        </p:spPr>
      </p:sp>
      <p:pic>
        <p:nvPicPr>
          <p:cNvPr id="21" name="Image 3" descr="icons/lightbu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73075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95160" y="3502152"/>
            <a:ext cx="4389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EC4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RESOLUTION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6995160" y="3758184"/>
            <a:ext cx="43891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custom batching logic with automatic sleep/retry mechanisms in vectorstore.py to gracefully handle 429 errors during indexing.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8920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6F9FA"/>
          </a:solidFill>
          <a:ln w="12700">
            <a:solidFill>
              <a:srgbClr val="E3EAEE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77240" y="5148072"/>
            <a:ext cx="548640" cy="54864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6" name="Image 4" descr="icons/warn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285232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08760" y="5056632"/>
            <a:ext cx="4206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 3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1508760" y="5312664"/>
            <a:ext cx="4206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Hallucinations on Missing Data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5989320" y="5074920"/>
            <a:ext cx="0" cy="1005840"/>
          </a:xfrm>
          <a:prstGeom prst="line">
            <a:avLst/>
          </a:prstGeom>
          <a:noFill/>
          <a:ln w="12700">
            <a:solidFill>
              <a:srgbClr val="E3EAEE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263640" y="5148072"/>
            <a:ext cx="548640" cy="548640"/>
          </a:xfrm>
          <a:prstGeom prst="ellipse">
            <a:avLst/>
          </a:prstGeom>
          <a:solidFill>
            <a:srgbClr val="0B2545"/>
          </a:solidFill>
        </p:spPr>
      </p:sp>
      <p:pic>
        <p:nvPicPr>
          <p:cNvPr id="31" name="Image 5" descr="icons/lightbu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5285232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95160" y="5056632"/>
            <a:ext cx="4389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EC4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RESOLUTION</a:t>
            </a:r>
            <a:endParaRPr lang="en-US" sz="950" dirty="0"/>
          </a:p>
        </p:txBody>
      </p:sp>
      <p:sp>
        <p:nvSpPr>
          <p:cNvPr id="33" name="Text 25"/>
          <p:cNvSpPr/>
          <p:nvPr/>
        </p:nvSpPr>
        <p:spPr>
          <a:xfrm>
            <a:off x="6995160" y="5312664"/>
            <a:ext cx="43891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Engineered a strict prompt template that forces a default “I don’t know” fallback.</a:t>
            </a:r>
            <a:endParaRPr lang="en-US" sz="1150" dirty="0"/>
          </a:p>
        </p:txBody>
      </p:sp>
      <p:sp>
        <p:nvSpPr>
          <p:cNvPr id="38" name="Text 2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ResearchAI</a:t>
            </a:r>
            <a:endParaRPr lang="en-US" sz="900" dirty="0"/>
          </a:p>
        </p:txBody>
      </p:sp>
      <p:sp>
        <p:nvSpPr>
          <p:cNvPr id="39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  <p:pic>
        <p:nvPicPr>
          <p:cNvPr id="1032" name="Picture 8" descr="SNS College 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0" y="166615"/>
            <a:ext cx="914400" cy="686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NS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192" y="133350"/>
            <a:ext cx="914400" cy="53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114800" cy="4114800"/>
          </a:xfrm>
          <a:prstGeom prst="ellipse">
            <a:avLst/>
          </a:prstGeom>
          <a:solidFill>
            <a:srgbClr val="132F52"/>
          </a:solidFill>
        </p:spPr>
      </p:sp>
      <p:sp>
        <p:nvSpPr>
          <p:cNvPr id="3" name="Text 1"/>
          <p:cNvSpPr/>
          <p:nvPr/>
        </p:nvSpPr>
        <p:spPr>
          <a:xfrm>
            <a:off x="548640" y="859028"/>
            <a:ext cx="9144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C4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151890"/>
            <a:ext cx="73152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From Static Papers to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Queryable Knowledge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65836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F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ResearchAI successfully transforms static research papers into interactive, queryable databases. It prioritizes accuracy, local privacy options, and complete user verifiability through live citations.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1005840" cy="0"/>
          </a:xfrm>
          <a:prstGeom prst="line">
            <a:avLst/>
          </a:prstGeom>
          <a:noFill/>
          <a:ln w="38100">
            <a:solidFill>
              <a:srgbClr val="2EC4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84048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C4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IMPROVEMENTS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4251960"/>
            <a:ext cx="457200" cy="4572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9" name="Image 0" descr="icons/fileLin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510" y="4354830"/>
            <a:ext cx="251460" cy="2514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4306824"/>
            <a:ext cx="57607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Multi-document cross-referencing in a single query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4910328"/>
            <a:ext cx="457200" cy="4572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2" name="Image 1" descr="icons/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" y="5013198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88720" y="4965192"/>
            <a:ext cx="57607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search integration to supplement PDF context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5568696"/>
            <a:ext cx="457200" cy="4572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5" name="Image 2" descr="icons/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" y="5671566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5623560"/>
            <a:ext cx="57607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Multi-agent collaboration for academic peer-review simulation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7863840" y="1737360"/>
            <a:ext cx="3794760" cy="3931920"/>
          </a:xfrm>
          <a:prstGeom prst="roundRect">
            <a:avLst>
              <a:gd name="adj" fmla="val 2892"/>
            </a:avLst>
          </a:prstGeom>
          <a:solidFill>
            <a:srgbClr val="1C7293"/>
          </a:solidFill>
        </p:spPr>
      </p:sp>
      <p:sp>
        <p:nvSpPr>
          <p:cNvPr id="18" name="Shape 13"/>
          <p:cNvSpPr/>
          <p:nvPr/>
        </p:nvSpPr>
        <p:spPr>
          <a:xfrm>
            <a:off x="9464040" y="2148840"/>
            <a:ext cx="777240" cy="777240"/>
          </a:xfrm>
          <a:prstGeom prst="ellipse">
            <a:avLst/>
          </a:prstGeom>
          <a:solidFill>
            <a:srgbClr val="0B2545"/>
          </a:solidFill>
        </p:spPr>
      </p:sp>
      <p:pic>
        <p:nvPicPr>
          <p:cNvPr id="19" name="Image 3" descr="icons/ro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8919" y="2323719"/>
            <a:ext cx="427482" cy="42748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092440" y="3154680"/>
            <a:ext cx="33375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Built for Trust.</a:t>
            </a:r>
            <a:endParaRPr lang="en-US" sz="1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Designed to Scale.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8092440" y="4160520"/>
            <a:ext cx="3337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D9F2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Accurate • Private • Verifiable</a:t>
            </a:r>
            <a:endParaRPr lang="en-US" sz="1150" dirty="0"/>
          </a:p>
        </p:txBody>
      </p:sp>
      <p:sp>
        <p:nvSpPr>
          <p:cNvPr id="26" name="Text 1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6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ResearchAI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  <p:pic>
        <p:nvPicPr>
          <p:cNvPr id="1032" name="Picture 8" descr="SNS College Log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7600" y="115815"/>
            <a:ext cx="914400" cy="686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NS Logo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192" y="133350"/>
            <a:ext cx="914400" cy="53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5637</Words>
  <Application>WPS Presentation</Application>
  <PresentationFormat>On-screen Show (16:9)</PresentationFormat>
  <Paragraphs>318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6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Inter</vt:lpstr>
      <vt:lpstr>Corbel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Lochana Rajesh</cp:lastModifiedBy>
  <cp:revision>3</cp:revision>
  <dcterms:created xsi:type="dcterms:W3CDTF">2026-07-23T06:29:00Z</dcterms:created>
  <dcterms:modified xsi:type="dcterms:W3CDTF">2026-07-23T06:50:42Z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6253C40DCC474704972EC034F7C515DD_13</vt:lpwstr>
  </property>
</Properties>
</file>