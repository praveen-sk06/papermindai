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22960" y="822960"/>
            <a:ext cx="822960" cy="822960"/>
          </a:xfrm>
          <a:prstGeom prst="ellipse">
            <a:avLst/>
          </a:prstGeom>
          <a:solidFill>
            <a:srgbClr val="2A3372"/>
          </a:solidFill>
          <a:ln/>
        </p:spPr>
      </p:sp>
      <p:sp>
        <p:nvSpPr>
          <p:cNvPr id="3" name="Text 1"/>
          <p:cNvSpPr txBox="1"/>
          <p:nvPr/>
        </p:nvSpPr>
        <p:spPr>
          <a:xfrm>
            <a:off x="822960" y="822960"/>
            <a:ext cx="822960" cy="822960"/>
          </a:xfrm>
          <a:prstGeom prst="rect">
            <a:avLst/>
          </a:prstGeom>
          <a:noFill/>
          <a:ln/>
        </p:spPr>
        <p:txBody>
          <a:bodyPr wrap="square" lIns="0" tIns="0" rIns="0" bIns="0" rtlCol="0" anchor="ctr"/>
          <a:lstStyle/>
          <a:p>
            <a:pPr algn="ctr" indent="0" marL="0">
              <a:buNone/>
            </a:pPr>
            <a:r>
              <a:rPr lang="en-US" sz="2520" dirty="0">
                <a:solidFill>
                  <a:srgbClr val="CADCFC"/>
                </a:solidFill>
                <a:latin typeface="Calibri" pitchFamily="34" charset="0"/>
                <a:ea typeface="Calibri" pitchFamily="34" charset="-122"/>
                <a:cs typeface="Calibri" pitchFamily="34" charset="-120"/>
              </a:rPr>
              <a:t>🧠</a:t>
            </a:r>
            <a:endParaRPr lang="en-US" sz="2520" dirty="0"/>
          </a:p>
        </p:txBody>
      </p:sp>
      <p:sp>
        <p:nvSpPr>
          <p:cNvPr id="4" name="Text 2"/>
          <p:cNvSpPr txBox="1"/>
          <p:nvPr/>
        </p:nvSpPr>
        <p:spPr>
          <a:xfrm>
            <a:off x="822960" y="2377440"/>
            <a:ext cx="91440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PaperMind</a:t>
            </a:r>
            <a:endParaRPr lang="en-US" sz="5400" dirty="0"/>
          </a:p>
        </p:txBody>
      </p:sp>
      <p:sp>
        <p:nvSpPr>
          <p:cNvPr id="5" name="Text 3"/>
          <p:cNvSpPr txBox="1"/>
          <p:nvPr/>
        </p:nvSpPr>
        <p:spPr>
          <a:xfrm>
            <a:off x="822960" y="3291840"/>
            <a:ext cx="9601200" cy="54864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Research Paper Answer Bot — a RAG system over seminal GenAI papers</a:t>
            </a:r>
            <a:endParaRPr lang="en-US" sz="2000" dirty="0"/>
          </a:p>
        </p:txBody>
      </p:sp>
      <p:sp>
        <p:nvSpPr>
          <p:cNvPr id="6" name="Text 4"/>
          <p:cNvSpPr txBox="1"/>
          <p:nvPr/>
        </p:nvSpPr>
        <p:spPr>
          <a:xfrm>
            <a:off x="822960" y="5760720"/>
            <a:ext cx="9601200" cy="731520"/>
          </a:xfrm>
          <a:prstGeom prst="rect">
            <a:avLst/>
          </a:prstGeom>
          <a:noFill/>
          <a:ln/>
        </p:spPr>
        <p:txBody>
          <a:bodyPr wrap="square" lIns="0" tIns="0" rIns="0" bIns="0" rtlCol="0" anchor="ctr"/>
          <a:lstStyle/>
          <a:p>
            <a:pPr indent="0" marL="0">
              <a:lnSpc>
                <a:spcPct val="140000"/>
              </a:lnSpc>
              <a:buNone/>
            </a:pPr>
            <a:r>
              <a:rPr lang="en-US" sz="1400" b="1" dirty="0">
                <a:solidFill>
                  <a:srgbClr val="CADCFC"/>
                </a:solidFill>
                <a:latin typeface="Calibri" pitchFamily="34" charset="0"/>
                <a:ea typeface="Calibri" pitchFamily="34" charset="-122"/>
                <a:cs typeface="Calibri" pitchFamily="34" charset="-120"/>
              </a:rPr>
              <a:t>GenAI Pinnacle Plus Program — Capstone Project
</a:t>
            </a:r>
            <a:pPr indent="0" marL="0">
              <a:lnSpc>
                <a:spcPct val="140000"/>
              </a:lnSpc>
              <a:buNone/>
            </a:pPr>
            <a:r>
              <a:rPr lang="en-US" sz="1400" dirty="0">
                <a:solidFill>
                  <a:srgbClr val="CADCFC"/>
                </a:solidFill>
                <a:latin typeface="Calibri" pitchFamily="34" charset="0"/>
                <a:ea typeface="Calibri" pitchFamily="34" charset="-122"/>
                <a:cs typeface="Calibri" pitchFamily="34" charset="-120"/>
              </a:rPr>
              <a:t>Name: ___________________     Date: ___________________</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rtlCol="0" anchor="ctr"/>
          <a:lstStyle/>
          <a:p>
            <a:pPr indent="0" marL="0">
              <a:buNone/>
            </a:pPr>
            <a:r>
              <a:rPr lang="en-US" sz="1200" b="1" spc="200" kern="0" dirty="0">
                <a:solidFill>
                  <a:srgbClr val="5B6485"/>
                </a:solidFill>
                <a:latin typeface="Calibri" pitchFamily="34" charset="0"/>
                <a:ea typeface="Calibri" pitchFamily="34" charset="-122"/>
                <a:cs typeface="Calibri" pitchFamily="34" charset="-120"/>
              </a:rPr>
              <a:t>PROBLEM STATEMENT</a:t>
            </a:r>
            <a:endParaRPr lang="en-US" sz="1200" dirty="0"/>
          </a:p>
        </p:txBody>
      </p:sp>
      <p:sp>
        <p:nvSpPr>
          <p:cNvPr id="3" name="Text 1"/>
          <p:cNvSpPr txBox="1"/>
          <p:nvPr/>
        </p:nvSpPr>
        <p:spPr>
          <a:xfrm>
            <a:off x="548640" y="713232"/>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Ask questions of research papers, get grounded answers</a:t>
            </a:r>
            <a:endParaRPr lang="en-US" sz="3000" dirty="0"/>
          </a:p>
        </p:txBody>
      </p:sp>
      <p:sp>
        <p:nvSpPr>
          <p:cNvPr id="4" name="Text 2"/>
          <p:cNvSpPr txBox="1"/>
          <p:nvPr/>
        </p:nvSpPr>
        <p:spPr>
          <a:xfrm>
            <a:off x="548640" y="1645920"/>
            <a:ext cx="6675120" cy="4754880"/>
          </a:xfrm>
          <a:prstGeom prst="rect">
            <a:avLst/>
          </a:prstGeom>
          <a:noFill/>
          <a:ln/>
        </p:spPr>
        <p:txBody>
          <a:bodyPr wrap="square" lIns="0" tIns="0" rIns="0" bIns="0" rtlCol="0" anchor="ctr"/>
          <a:lstStyle/>
          <a:p>
            <a:pPr indent="0" marL="0">
              <a:lnSpc>
                <a:spcPct val="125000"/>
              </a:lnSpc>
              <a:buNone/>
            </a:pPr>
            <a:r>
              <a:rPr lang="en-US" sz="1600" b="1" dirty="0">
                <a:solidFill>
                  <a:srgbClr val="1E2761"/>
                </a:solidFill>
                <a:latin typeface="Calibri" pitchFamily="34" charset="0"/>
                <a:ea typeface="Calibri" pitchFamily="34" charset="-122"/>
                <a:cs typeface="Calibri" pitchFamily="34" charset="-120"/>
              </a:rPr>
              <a:t>Business context
</a:t>
            </a:r>
            <a:pPr indent="0" marL="0">
              <a:lnSpc>
                <a:spcPct val="125000"/>
              </a:lnSpc>
              <a:buNone/>
            </a:pPr>
            <a:r>
              <a:rPr lang="en-US" sz="1500" dirty="0">
                <a:solidFill>
                  <a:srgbClr val="1A1D2E"/>
                </a:solidFill>
                <a:latin typeface="Calibri" pitchFamily="34" charset="0"/>
                <a:ea typeface="Calibri" pitchFamily="34" charset="-122"/>
                <a:cs typeface="Calibri" pitchFamily="34" charset="-120"/>
              </a:rPr>
              <a:t>An ArXiv-like organization holds a curated set of important GenAI/LLM research papers. Researchers need to query this corpus in natural language rather than manually searching PDFs.
</a:t>
            </a:r>
            <a:endParaRPr lang="en-US" sz="1500" dirty="0"/>
          </a:p>
          <a:p>
            <a:pPr indent="0" marL="0">
              <a:lnSpc>
                <a:spcPct val="125000"/>
              </a:lnSpc>
              <a:buNone/>
            </a:pPr>
            <a:r>
              <a:rPr lang="en-US" sz="1600" b="1" dirty="0">
                <a:solidFill>
                  <a:srgbClr val="1E2761"/>
                </a:solidFill>
                <a:latin typeface="Calibri" pitchFamily="34" charset="0"/>
                <a:ea typeface="Calibri" pitchFamily="34" charset="-122"/>
                <a:cs typeface="Calibri" pitchFamily="34" charset="-120"/>
              </a:rPr>
              <a:t>Objective
</a:t>
            </a:r>
            <a:pPr indent="0" marL="0">
              <a:lnSpc>
                <a:spcPct val="125000"/>
              </a:lnSpc>
              <a:buNone/>
            </a:pPr>
            <a:r>
              <a:rPr lang="en-US" sz="1500" dirty="0">
                <a:solidFill>
                  <a:srgbClr val="1A1D2E"/>
                </a:solidFill>
                <a:latin typeface="Calibri" pitchFamily="34" charset="0"/>
                <a:ea typeface="Calibri" pitchFamily="34" charset="-122"/>
                <a:cs typeface="Calibri" pitchFamily="34" charset="-120"/>
              </a:rPr>
              <a:t>Build a RAG system that indexes the papers, retrieves relevant passages for a query, and generates accurate answers grounded strictly in the retrieved text — with citations.
</a:t>
            </a:r>
            <a:endParaRPr lang="en-US" sz="1500" dirty="0"/>
          </a:p>
          <a:p>
            <a:pPr indent="0" marL="0">
              <a:lnSpc>
                <a:spcPct val="125000"/>
              </a:lnSpc>
              <a:buNone/>
            </a:pPr>
            <a:r>
              <a:rPr lang="en-US" sz="1600" b="1" dirty="0">
                <a:solidFill>
                  <a:srgbClr val="1E2761"/>
                </a:solidFill>
                <a:latin typeface="Calibri" pitchFamily="34" charset="0"/>
                <a:ea typeface="Calibri" pitchFamily="34" charset="-122"/>
                <a:cs typeface="Calibri" pitchFamily="34" charset="-120"/>
              </a:rPr>
              <a:t>Use case
</a:t>
            </a:r>
            <a:pPr indent="0" marL="0">
              <a:lnSpc>
                <a:spcPct val="125000"/>
              </a:lnSpc>
              <a:buNone/>
            </a:pPr>
            <a:r>
              <a:rPr lang="en-US" sz="1500" dirty="0">
                <a:solidFill>
                  <a:srgbClr val="1A1D2E"/>
                </a:solidFill>
                <a:latin typeface="Calibri" pitchFamily="34" charset="0"/>
                <a:ea typeface="Calibri" pitchFamily="34" charset="-122"/>
                <a:cs typeface="Calibri" pitchFamily="34" charset="-120"/>
              </a:rPr>
              <a:t>A researcher asks “What problem does LoRA solve?” and gets a direct answer plus the exact paper + page it came from — not a link dump to go read themselves.</a:t>
            </a:r>
            <a:endParaRPr lang="en-US" sz="1500" dirty="0"/>
          </a:p>
        </p:txBody>
      </p:sp>
      <p:sp>
        <p:nvSpPr>
          <p:cNvPr id="5" name="Shape 3"/>
          <p:cNvSpPr/>
          <p:nvPr/>
        </p:nvSpPr>
        <p:spPr>
          <a:xfrm>
            <a:off x="7589520" y="1600200"/>
            <a:ext cx="4023360" cy="4709160"/>
          </a:xfrm>
          <a:prstGeom prst="roundRect">
            <a:avLst>
              <a:gd name="adj" fmla="val 1818"/>
            </a:avLst>
          </a:prstGeom>
          <a:solidFill>
            <a:srgbClr val="F4F6FC"/>
          </a:solidFill>
          <a:ln/>
        </p:spPr>
      </p:sp>
      <p:sp>
        <p:nvSpPr>
          <p:cNvPr id="6" name="Text 4"/>
          <p:cNvSpPr txBox="1"/>
          <p:nvPr/>
        </p:nvSpPr>
        <p:spPr>
          <a:xfrm>
            <a:off x="7863840" y="1828800"/>
            <a:ext cx="3474720" cy="320040"/>
          </a:xfrm>
          <a:prstGeom prst="rect">
            <a:avLst/>
          </a:prstGeom>
          <a:noFill/>
          <a:ln/>
        </p:spPr>
        <p:txBody>
          <a:bodyPr wrap="square" rtlCol="0" anchor="ctr"/>
          <a:lstStyle/>
          <a:p>
            <a:pPr indent="0" marL="0">
              <a:buNone/>
            </a:pPr>
            <a:r>
              <a:rPr lang="en-US" sz="1200" b="1" spc="100" kern="0" dirty="0">
                <a:solidFill>
                  <a:srgbClr val="5B6485"/>
                </a:solidFill>
                <a:latin typeface="Calibri" pitchFamily="34" charset="0"/>
                <a:ea typeface="Calibri" pitchFamily="34" charset="-122"/>
                <a:cs typeface="Calibri" pitchFamily="34" charset="-120"/>
              </a:rPr>
              <a:t>THE CORPUS — 6 PAPERS</a:t>
            </a:r>
            <a:endParaRPr lang="en-US" sz="1200" dirty="0"/>
          </a:p>
        </p:txBody>
      </p:sp>
      <p:sp>
        <p:nvSpPr>
          <p:cNvPr id="7" name="Shape 5"/>
          <p:cNvSpPr/>
          <p:nvPr/>
        </p:nvSpPr>
        <p:spPr>
          <a:xfrm>
            <a:off x="7863840" y="2286000"/>
            <a:ext cx="3474720" cy="530352"/>
          </a:xfrm>
          <a:prstGeom prst="roundRect">
            <a:avLst>
              <a:gd name="adj" fmla="val 10345"/>
            </a:avLst>
          </a:prstGeom>
          <a:solidFill>
            <a:srgbClr val="FFFFFF"/>
          </a:solidFill>
          <a:ln w="12700">
            <a:solidFill>
              <a:srgbClr val="DDE3F5"/>
            </a:solidFill>
            <a:prstDash val="solid"/>
          </a:ln>
        </p:spPr>
      </p:sp>
      <p:sp>
        <p:nvSpPr>
          <p:cNvPr id="8" name="Text 6"/>
          <p:cNvSpPr txBox="1"/>
          <p:nvPr/>
        </p:nvSpPr>
        <p:spPr>
          <a:xfrm>
            <a:off x="8046720" y="2286000"/>
            <a:ext cx="3108960" cy="53035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BERT</a:t>
            </a:r>
            <a:endParaRPr lang="en-US" sz="1300" dirty="0"/>
          </a:p>
        </p:txBody>
      </p:sp>
      <p:sp>
        <p:nvSpPr>
          <p:cNvPr id="9" name="Shape 7"/>
          <p:cNvSpPr/>
          <p:nvPr/>
        </p:nvSpPr>
        <p:spPr>
          <a:xfrm>
            <a:off x="7863840" y="2944368"/>
            <a:ext cx="3474720" cy="530352"/>
          </a:xfrm>
          <a:prstGeom prst="roundRect">
            <a:avLst>
              <a:gd name="adj" fmla="val 10345"/>
            </a:avLst>
          </a:prstGeom>
          <a:solidFill>
            <a:srgbClr val="FFFFFF"/>
          </a:solidFill>
          <a:ln w="12700">
            <a:solidFill>
              <a:srgbClr val="DDE3F5"/>
            </a:solidFill>
            <a:prstDash val="solid"/>
          </a:ln>
        </p:spPr>
      </p:sp>
      <p:sp>
        <p:nvSpPr>
          <p:cNvPr id="10" name="Text 8"/>
          <p:cNvSpPr txBox="1"/>
          <p:nvPr/>
        </p:nvSpPr>
        <p:spPr>
          <a:xfrm>
            <a:off x="8046720" y="2944368"/>
            <a:ext cx="3108960" cy="53035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Attention Is</a:t>
            </a:r>
            <a:endParaRPr lang="en-US" sz="1300" dirty="0"/>
          </a:p>
          <a:p>
            <a:pPr indent="0" marL="0">
              <a:buNone/>
            </a:pPr>
            <a:r>
              <a:rPr lang="en-US" sz="1300" b="1" dirty="0">
                <a:solidFill>
                  <a:srgbClr val="1E2761"/>
                </a:solidFill>
                <a:latin typeface="Calibri" pitchFamily="34" charset="0"/>
                <a:ea typeface="Calibri" pitchFamily="34" charset="-122"/>
                <a:cs typeface="Calibri" pitchFamily="34" charset="-120"/>
              </a:rPr>
              <a:t>All You Need</a:t>
            </a:r>
            <a:endParaRPr lang="en-US" sz="1300" dirty="0"/>
          </a:p>
        </p:txBody>
      </p:sp>
      <p:sp>
        <p:nvSpPr>
          <p:cNvPr id="11" name="Shape 9"/>
          <p:cNvSpPr/>
          <p:nvPr/>
        </p:nvSpPr>
        <p:spPr>
          <a:xfrm>
            <a:off x="7863840" y="3602736"/>
            <a:ext cx="3474720" cy="530352"/>
          </a:xfrm>
          <a:prstGeom prst="roundRect">
            <a:avLst>
              <a:gd name="adj" fmla="val 10345"/>
            </a:avLst>
          </a:prstGeom>
          <a:solidFill>
            <a:srgbClr val="FFFFFF"/>
          </a:solidFill>
          <a:ln w="12700">
            <a:solidFill>
              <a:srgbClr val="DDE3F5"/>
            </a:solidFill>
            <a:prstDash val="solid"/>
          </a:ln>
        </p:spPr>
      </p:sp>
      <p:sp>
        <p:nvSpPr>
          <p:cNvPr id="12" name="Text 10"/>
          <p:cNvSpPr txBox="1"/>
          <p:nvPr/>
        </p:nvSpPr>
        <p:spPr>
          <a:xfrm>
            <a:off x="8046720" y="3602736"/>
            <a:ext cx="3108960" cy="53035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GPT-3</a:t>
            </a:r>
            <a:endParaRPr lang="en-US" sz="1300" dirty="0"/>
          </a:p>
        </p:txBody>
      </p:sp>
      <p:sp>
        <p:nvSpPr>
          <p:cNvPr id="13" name="Shape 11"/>
          <p:cNvSpPr/>
          <p:nvPr/>
        </p:nvSpPr>
        <p:spPr>
          <a:xfrm>
            <a:off x="7863840" y="4261104"/>
            <a:ext cx="3474720" cy="530352"/>
          </a:xfrm>
          <a:prstGeom prst="roundRect">
            <a:avLst>
              <a:gd name="adj" fmla="val 10345"/>
            </a:avLst>
          </a:prstGeom>
          <a:solidFill>
            <a:srgbClr val="FFFFFF"/>
          </a:solidFill>
          <a:ln w="12700">
            <a:solidFill>
              <a:srgbClr val="DDE3F5"/>
            </a:solidFill>
            <a:prstDash val="solid"/>
          </a:ln>
        </p:spPr>
      </p:sp>
      <p:sp>
        <p:nvSpPr>
          <p:cNvPr id="14" name="Text 12"/>
          <p:cNvSpPr txBox="1"/>
          <p:nvPr/>
        </p:nvSpPr>
        <p:spPr>
          <a:xfrm>
            <a:off x="8046720" y="4261104"/>
            <a:ext cx="3108960" cy="53035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InstructGPT</a:t>
            </a:r>
            <a:endParaRPr lang="en-US" sz="1300" dirty="0"/>
          </a:p>
        </p:txBody>
      </p:sp>
      <p:sp>
        <p:nvSpPr>
          <p:cNvPr id="15" name="Shape 13"/>
          <p:cNvSpPr/>
          <p:nvPr/>
        </p:nvSpPr>
        <p:spPr>
          <a:xfrm>
            <a:off x="7863840" y="4919472"/>
            <a:ext cx="3474720" cy="530352"/>
          </a:xfrm>
          <a:prstGeom prst="roundRect">
            <a:avLst>
              <a:gd name="adj" fmla="val 10345"/>
            </a:avLst>
          </a:prstGeom>
          <a:solidFill>
            <a:srgbClr val="FFFFFF"/>
          </a:solidFill>
          <a:ln w="12700">
            <a:solidFill>
              <a:srgbClr val="DDE3F5"/>
            </a:solidFill>
            <a:prstDash val="solid"/>
          </a:ln>
        </p:spPr>
      </p:sp>
      <p:sp>
        <p:nvSpPr>
          <p:cNvPr id="16" name="Text 14"/>
          <p:cNvSpPr txBox="1"/>
          <p:nvPr/>
        </p:nvSpPr>
        <p:spPr>
          <a:xfrm>
            <a:off x="8046720" y="4919472"/>
            <a:ext cx="3108960" cy="53035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LoRA</a:t>
            </a:r>
            <a:endParaRPr lang="en-US" sz="1300" dirty="0"/>
          </a:p>
        </p:txBody>
      </p:sp>
      <p:sp>
        <p:nvSpPr>
          <p:cNvPr id="17" name="Shape 15"/>
          <p:cNvSpPr/>
          <p:nvPr/>
        </p:nvSpPr>
        <p:spPr>
          <a:xfrm>
            <a:off x="7863840" y="5577840"/>
            <a:ext cx="3474720" cy="530352"/>
          </a:xfrm>
          <a:prstGeom prst="roundRect">
            <a:avLst>
              <a:gd name="adj" fmla="val 10345"/>
            </a:avLst>
          </a:prstGeom>
          <a:solidFill>
            <a:srgbClr val="FFFFFF"/>
          </a:solidFill>
          <a:ln w="12700">
            <a:solidFill>
              <a:srgbClr val="DDE3F5"/>
            </a:solidFill>
            <a:prstDash val="solid"/>
          </a:ln>
        </p:spPr>
      </p:sp>
      <p:sp>
        <p:nvSpPr>
          <p:cNvPr id="18" name="Text 16"/>
          <p:cNvSpPr txBox="1"/>
          <p:nvPr/>
        </p:nvSpPr>
        <p:spPr>
          <a:xfrm>
            <a:off x="8046720" y="5577840"/>
            <a:ext cx="3108960" cy="53035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SELF-RAG</a:t>
            </a:r>
            <a:endParaRPr lang="en-US" sz="1300" dirty="0"/>
          </a:p>
        </p:txBody>
      </p:sp>
      <p:sp>
        <p:nvSpPr>
          <p:cNvPr id="19" name="Text 17"/>
          <p:cNvSpPr txBox="1"/>
          <p:nvPr/>
        </p:nvSpPr>
        <p:spPr>
          <a:xfrm>
            <a:off x="11365992" y="6355080"/>
            <a:ext cx="457200" cy="320040"/>
          </a:xfrm>
          <a:prstGeom prst="rect">
            <a:avLst/>
          </a:prstGeom>
          <a:noFill/>
          <a:ln/>
        </p:spPr>
        <p:txBody>
          <a:bodyPr wrap="square" rtlCol="0" anchor="ctr"/>
          <a:lstStyle/>
          <a:p>
            <a:pPr algn="r" indent="0" marL="0">
              <a:buNone/>
            </a:pPr>
            <a:r>
              <a:rPr lang="en-US" sz="1100" dirty="0">
                <a:solidFill>
                  <a:srgbClr val="5B6485"/>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rtlCol="0" anchor="ctr"/>
          <a:lstStyle/>
          <a:p>
            <a:pPr indent="0" marL="0">
              <a:buNone/>
            </a:pPr>
            <a:r>
              <a:rPr lang="en-US" sz="1200" b="1" spc="200" kern="0" dirty="0">
                <a:solidFill>
                  <a:srgbClr val="5B6485"/>
                </a:solidFill>
                <a:latin typeface="Calibri" pitchFamily="34" charset="0"/>
                <a:ea typeface="Calibri" pitchFamily="34" charset="-122"/>
                <a:cs typeface="Calibri" pitchFamily="34" charset="-120"/>
              </a:rPr>
              <a:t>ARCHITECTURE OVERVIEW</a:t>
            </a:r>
            <a:endParaRPr lang="en-US" sz="1200" dirty="0"/>
          </a:p>
        </p:txBody>
      </p:sp>
      <p:sp>
        <p:nvSpPr>
          <p:cNvPr id="3" name="Text 1"/>
          <p:cNvSpPr txBox="1"/>
          <p:nvPr/>
        </p:nvSpPr>
        <p:spPr>
          <a:xfrm>
            <a:off x="548640" y="713232"/>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End-to-end RAG pipeline</a:t>
            </a:r>
            <a:endParaRPr lang="en-US" sz="3000" dirty="0"/>
          </a:p>
        </p:txBody>
      </p:sp>
      <p:sp>
        <p:nvSpPr>
          <p:cNvPr id="4" name="Shape 2"/>
          <p:cNvSpPr/>
          <p:nvPr/>
        </p:nvSpPr>
        <p:spPr>
          <a:xfrm>
            <a:off x="548640" y="2103120"/>
            <a:ext cx="1691640" cy="1371600"/>
          </a:xfrm>
          <a:prstGeom prst="roundRect">
            <a:avLst>
              <a:gd name="adj" fmla="val 6667"/>
            </a:avLst>
          </a:prstGeom>
          <a:solidFill>
            <a:srgbClr val="F4F6FC"/>
          </a:solidFill>
          <a:ln/>
        </p:spPr>
      </p:sp>
      <p:sp>
        <p:nvSpPr>
          <p:cNvPr id="5" name="Text 3"/>
          <p:cNvSpPr txBox="1"/>
          <p:nvPr/>
        </p:nvSpPr>
        <p:spPr>
          <a:xfrm>
            <a:off x="548640" y="2212848"/>
            <a:ext cx="1691640" cy="45720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6" name="Text 4"/>
          <p:cNvSpPr txBox="1"/>
          <p:nvPr/>
        </p:nvSpPr>
        <p:spPr>
          <a:xfrm>
            <a:off x="621792" y="2651760"/>
            <a:ext cx="1545336" cy="32004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PDF Papers</a:t>
            </a:r>
            <a:endParaRPr lang="en-US" sz="1200" dirty="0"/>
          </a:p>
        </p:txBody>
      </p:sp>
      <p:sp>
        <p:nvSpPr>
          <p:cNvPr id="7" name="Text 5"/>
          <p:cNvSpPr txBox="1"/>
          <p:nvPr/>
        </p:nvSpPr>
        <p:spPr>
          <a:xfrm>
            <a:off x="621792" y="2971800"/>
            <a:ext cx="1545336" cy="457200"/>
          </a:xfrm>
          <a:prstGeom prst="rect">
            <a:avLst/>
          </a:prstGeom>
          <a:noFill/>
          <a:ln/>
        </p:spPr>
        <p:txBody>
          <a:bodyPr wrap="square" lIns="0" tIns="0" rIns="0" bIns="0" rtlCol="0" anchor="ctr"/>
          <a:lstStyle/>
          <a:p>
            <a:pPr algn="ctr" indent="0" marL="0">
              <a:buNone/>
            </a:pPr>
            <a:r>
              <a:rPr lang="en-US" sz="950" dirty="0">
                <a:solidFill>
                  <a:srgbClr val="5B6485"/>
                </a:solidFill>
                <a:latin typeface="Calibri" pitchFamily="34" charset="0"/>
                <a:ea typeface="Calibri" pitchFamily="34" charset="-122"/>
                <a:cs typeface="Calibri" pitchFamily="34" charset="-120"/>
              </a:rPr>
              <a:t>6 papers, per-page text extraction</a:t>
            </a:r>
            <a:endParaRPr lang="en-US" sz="950" dirty="0"/>
          </a:p>
        </p:txBody>
      </p:sp>
      <p:sp>
        <p:nvSpPr>
          <p:cNvPr id="8" name="Text 6"/>
          <p:cNvSpPr txBox="1"/>
          <p:nvPr/>
        </p:nvSpPr>
        <p:spPr>
          <a:xfrm>
            <a:off x="2240280" y="2514600"/>
            <a:ext cx="137160" cy="548640"/>
          </a:xfrm>
          <a:prstGeom prst="rect">
            <a:avLst/>
          </a:prstGeom>
          <a:noFill/>
          <a:ln/>
        </p:spPr>
        <p:txBody>
          <a:bodyPr wrap="square" lIns="0" tIns="0" rIns="0" bIns="0" rtlCol="0" anchor="ctr"/>
          <a:lstStyle/>
          <a:p>
            <a:pPr algn="ctr" indent="0" marL="0">
              <a:buNone/>
            </a:pPr>
            <a:r>
              <a:rPr lang="en-US" sz="1600" dirty="0">
                <a:solidFill>
                  <a:srgbClr val="5B6485"/>
                </a:solidFill>
                <a:latin typeface="Calibri" pitchFamily="34" charset="0"/>
                <a:ea typeface="Calibri" pitchFamily="34" charset="-122"/>
                <a:cs typeface="Calibri" pitchFamily="34" charset="-120"/>
              </a:rPr>
              <a:t>→</a:t>
            </a:r>
            <a:endParaRPr lang="en-US" sz="1600" dirty="0"/>
          </a:p>
        </p:txBody>
      </p:sp>
      <p:sp>
        <p:nvSpPr>
          <p:cNvPr id="9" name="Shape 7"/>
          <p:cNvSpPr/>
          <p:nvPr/>
        </p:nvSpPr>
        <p:spPr>
          <a:xfrm>
            <a:off x="2377440" y="2103120"/>
            <a:ext cx="1691640" cy="1371600"/>
          </a:xfrm>
          <a:prstGeom prst="roundRect">
            <a:avLst>
              <a:gd name="adj" fmla="val 6667"/>
            </a:avLst>
          </a:prstGeom>
          <a:solidFill>
            <a:srgbClr val="F4F6FC"/>
          </a:solidFill>
          <a:ln/>
        </p:spPr>
      </p:sp>
      <p:sp>
        <p:nvSpPr>
          <p:cNvPr id="10" name="Text 8"/>
          <p:cNvSpPr txBox="1"/>
          <p:nvPr/>
        </p:nvSpPr>
        <p:spPr>
          <a:xfrm>
            <a:off x="2377440" y="2212848"/>
            <a:ext cx="1691640" cy="45720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1" name="Text 9"/>
          <p:cNvSpPr txBox="1"/>
          <p:nvPr/>
        </p:nvSpPr>
        <p:spPr>
          <a:xfrm>
            <a:off x="2450592" y="2651760"/>
            <a:ext cx="1545336" cy="32004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Chunking</a:t>
            </a:r>
            <a:endParaRPr lang="en-US" sz="1200" dirty="0"/>
          </a:p>
        </p:txBody>
      </p:sp>
      <p:sp>
        <p:nvSpPr>
          <p:cNvPr id="12" name="Text 10"/>
          <p:cNvSpPr txBox="1"/>
          <p:nvPr/>
        </p:nvSpPr>
        <p:spPr>
          <a:xfrm>
            <a:off x="2450592" y="2971800"/>
            <a:ext cx="1545336" cy="457200"/>
          </a:xfrm>
          <a:prstGeom prst="rect">
            <a:avLst/>
          </a:prstGeom>
          <a:noFill/>
          <a:ln/>
        </p:spPr>
        <p:txBody>
          <a:bodyPr wrap="square" lIns="0" tIns="0" rIns="0" bIns="0" rtlCol="0" anchor="ctr"/>
          <a:lstStyle/>
          <a:p>
            <a:pPr algn="ctr" indent="0" marL="0">
              <a:buNone/>
            </a:pPr>
            <a:r>
              <a:rPr lang="en-US" sz="950" dirty="0">
                <a:solidFill>
                  <a:srgbClr val="5B6485"/>
                </a:solidFill>
                <a:latin typeface="Calibri" pitchFamily="34" charset="0"/>
                <a:ea typeface="Calibri" pitchFamily="34" charset="-122"/>
                <a:cs typeface="Calibri" pitchFamily="34" charset="-120"/>
              </a:rPr>
              <a:t>Recursive splitter, 900 chars / 150 overlap</a:t>
            </a:r>
            <a:endParaRPr lang="en-US" sz="950" dirty="0"/>
          </a:p>
        </p:txBody>
      </p:sp>
      <p:sp>
        <p:nvSpPr>
          <p:cNvPr id="13" name="Text 11"/>
          <p:cNvSpPr txBox="1"/>
          <p:nvPr/>
        </p:nvSpPr>
        <p:spPr>
          <a:xfrm>
            <a:off x="4069080" y="2514600"/>
            <a:ext cx="137160" cy="548640"/>
          </a:xfrm>
          <a:prstGeom prst="rect">
            <a:avLst/>
          </a:prstGeom>
          <a:noFill/>
          <a:ln/>
        </p:spPr>
        <p:txBody>
          <a:bodyPr wrap="square" lIns="0" tIns="0" rIns="0" bIns="0" rtlCol="0" anchor="ctr"/>
          <a:lstStyle/>
          <a:p>
            <a:pPr algn="ctr" indent="0" marL="0">
              <a:buNone/>
            </a:pPr>
            <a:r>
              <a:rPr lang="en-US" sz="1600" dirty="0">
                <a:solidFill>
                  <a:srgbClr val="5B6485"/>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4206240" y="2103120"/>
            <a:ext cx="1691640" cy="1371600"/>
          </a:xfrm>
          <a:prstGeom prst="roundRect">
            <a:avLst>
              <a:gd name="adj" fmla="val 6667"/>
            </a:avLst>
          </a:prstGeom>
          <a:solidFill>
            <a:srgbClr val="F4F6FC"/>
          </a:solidFill>
          <a:ln/>
        </p:spPr>
      </p:sp>
      <p:sp>
        <p:nvSpPr>
          <p:cNvPr id="15" name="Text 13"/>
          <p:cNvSpPr txBox="1"/>
          <p:nvPr/>
        </p:nvSpPr>
        <p:spPr>
          <a:xfrm>
            <a:off x="4206240" y="2212848"/>
            <a:ext cx="1691640" cy="45720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6" name="Text 14"/>
          <p:cNvSpPr txBox="1"/>
          <p:nvPr/>
        </p:nvSpPr>
        <p:spPr>
          <a:xfrm>
            <a:off x="4279392" y="2651760"/>
            <a:ext cx="1545336" cy="32004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Embeddings</a:t>
            </a:r>
            <a:endParaRPr lang="en-US" sz="1200" dirty="0"/>
          </a:p>
        </p:txBody>
      </p:sp>
      <p:sp>
        <p:nvSpPr>
          <p:cNvPr id="17" name="Text 15"/>
          <p:cNvSpPr txBox="1"/>
          <p:nvPr/>
        </p:nvSpPr>
        <p:spPr>
          <a:xfrm>
            <a:off x="4279392" y="2971800"/>
            <a:ext cx="1545336" cy="457200"/>
          </a:xfrm>
          <a:prstGeom prst="rect">
            <a:avLst/>
          </a:prstGeom>
          <a:noFill/>
          <a:ln/>
        </p:spPr>
        <p:txBody>
          <a:bodyPr wrap="square" lIns="0" tIns="0" rIns="0" bIns="0" rtlCol="0" anchor="ctr"/>
          <a:lstStyle/>
          <a:p>
            <a:pPr algn="ctr" indent="0" marL="0">
              <a:buNone/>
            </a:pPr>
            <a:r>
              <a:rPr lang="en-US" sz="950" dirty="0">
                <a:solidFill>
                  <a:srgbClr val="5B6485"/>
                </a:solidFill>
                <a:latin typeface="Calibri" pitchFamily="34" charset="0"/>
                <a:ea typeface="Calibri" pitchFamily="34" charset="-122"/>
                <a:cs typeface="Calibri" pitchFamily="34" charset="-120"/>
              </a:rPr>
              <a:t>HuggingFace (local) or Gemini (commercial)</a:t>
            </a:r>
            <a:endParaRPr lang="en-US" sz="950" dirty="0"/>
          </a:p>
        </p:txBody>
      </p:sp>
      <p:sp>
        <p:nvSpPr>
          <p:cNvPr id="18" name="Text 16"/>
          <p:cNvSpPr txBox="1"/>
          <p:nvPr/>
        </p:nvSpPr>
        <p:spPr>
          <a:xfrm>
            <a:off x="5897880" y="2514600"/>
            <a:ext cx="137160" cy="548640"/>
          </a:xfrm>
          <a:prstGeom prst="rect">
            <a:avLst/>
          </a:prstGeom>
          <a:noFill/>
          <a:ln/>
        </p:spPr>
        <p:txBody>
          <a:bodyPr wrap="square" lIns="0" tIns="0" rIns="0" bIns="0" rtlCol="0" anchor="ctr"/>
          <a:lstStyle/>
          <a:p>
            <a:pPr algn="ctr" indent="0" marL="0">
              <a:buNone/>
            </a:pPr>
            <a:r>
              <a:rPr lang="en-US" sz="1600" dirty="0">
                <a:solidFill>
                  <a:srgbClr val="5B6485"/>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6035040" y="2103120"/>
            <a:ext cx="1691640" cy="1371600"/>
          </a:xfrm>
          <a:prstGeom prst="roundRect">
            <a:avLst>
              <a:gd name="adj" fmla="val 6667"/>
            </a:avLst>
          </a:prstGeom>
          <a:solidFill>
            <a:srgbClr val="F4F6FC"/>
          </a:solidFill>
          <a:ln/>
        </p:spPr>
      </p:sp>
      <p:sp>
        <p:nvSpPr>
          <p:cNvPr id="20" name="Text 18"/>
          <p:cNvSpPr txBox="1"/>
          <p:nvPr/>
        </p:nvSpPr>
        <p:spPr>
          <a:xfrm>
            <a:off x="6035040" y="2212848"/>
            <a:ext cx="1691640" cy="45720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1" name="Text 19"/>
          <p:cNvSpPr txBox="1"/>
          <p:nvPr/>
        </p:nvSpPr>
        <p:spPr>
          <a:xfrm>
            <a:off x="6108192" y="2651760"/>
            <a:ext cx="1545336" cy="32004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Vector DB</a:t>
            </a:r>
            <a:endParaRPr lang="en-US" sz="1200" dirty="0"/>
          </a:p>
        </p:txBody>
      </p:sp>
      <p:sp>
        <p:nvSpPr>
          <p:cNvPr id="22" name="Text 20"/>
          <p:cNvSpPr txBox="1"/>
          <p:nvPr/>
        </p:nvSpPr>
        <p:spPr>
          <a:xfrm>
            <a:off x="6108192" y="2971800"/>
            <a:ext cx="1545336" cy="457200"/>
          </a:xfrm>
          <a:prstGeom prst="rect">
            <a:avLst/>
          </a:prstGeom>
          <a:noFill/>
          <a:ln/>
        </p:spPr>
        <p:txBody>
          <a:bodyPr wrap="square" lIns="0" tIns="0" rIns="0" bIns="0" rtlCol="0" anchor="ctr"/>
          <a:lstStyle/>
          <a:p>
            <a:pPr algn="ctr" indent="0" marL="0">
              <a:buNone/>
            </a:pPr>
            <a:r>
              <a:rPr lang="en-US" sz="950" dirty="0">
                <a:solidFill>
                  <a:srgbClr val="5B6485"/>
                </a:solidFill>
                <a:latin typeface="Calibri" pitchFamily="34" charset="0"/>
                <a:ea typeface="Calibri" pitchFamily="34" charset="-122"/>
                <a:cs typeface="Calibri" pitchFamily="34" charset="-120"/>
              </a:rPr>
              <a:t>FAISS + BM25 (hybrid lexical index)</a:t>
            </a:r>
            <a:endParaRPr lang="en-US" sz="950" dirty="0"/>
          </a:p>
        </p:txBody>
      </p:sp>
      <p:sp>
        <p:nvSpPr>
          <p:cNvPr id="23" name="Text 21"/>
          <p:cNvSpPr txBox="1"/>
          <p:nvPr/>
        </p:nvSpPr>
        <p:spPr>
          <a:xfrm>
            <a:off x="7726680" y="2514600"/>
            <a:ext cx="137160" cy="548640"/>
          </a:xfrm>
          <a:prstGeom prst="rect">
            <a:avLst/>
          </a:prstGeom>
          <a:noFill/>
          <a:ln/>
        </p:spPr>
        <p:txBody>
          <a:bodyPr wrap="square" lIns="0" tIns="0" rIns="0" bIns="0" rtlCol="0" anchor="ctr"/>
          <a:lstStyle/>
          <a:p>
            <a:pPr algn="ctr" indent="0" marL="0">
              <a:buNone/>
            </a:pPr>
            <a:r>
              <a:rPr lang="en-US" sz="1600" dirty="0">
                <a:solidFill>
                  <a:srgbClr val="5B6485"/>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7863840" y="2103120"/>
            <a:ext cx="1691640" cy="1371600"/>
          </a:xfrm>
          <a:prstGeom prst="roundRect">
            <a:avLst>
              <a:gd name="adj" fmla="val 6667"/>
            </a:avLst>
          </a:prstGeom>
          <a:solidFill>
            <a:srgbClr val="F4F6FC"/>
          </a:solidFill>
          <a:ln/>
        </p:spPr>
      </p:sp>
      <p:sp>
        <p:nvSpPr>
          <p:cNvPr id="25" name="Text 23"/>
          <p:cNvSpPr txBox="1"/>
          <p:nvPr/>
        </p:nvSpPr>
        <p:spPr>
          <a:xfrm>
            <a:off x="7863840" y="2212848"/>
            <a:ext cx="1691640" cy="45720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6" name="Text 24"/>
          <p:cNvSpPr txBox="1"/>
          <p:nvPr/>
        </p:nvSpPr>
        <p:spPr>
          <a:xfrm>
            <a:off x="7936992" y="2651760"/>
            <a:ext cx="1545336" cy="32004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Retriever</a:t>
            </a:r>
            <a:endParaRPr lang="en-US" sz="1200" dirty="0"/>
          </a:p>
        </p:txBody>
      </p:sp>
      <p:sp>
        <p:nvSpPr>
          <p:cNvPr id="27" name="Text 25"/>
          <p:cNvSpPr txBox="1"/>
          <p:nvPr/>
        </p:nvSpPr>
        <p:spPr>
          <a:xfrm>
            <a:off x="7936992" y="2971800"/>
            <a:ext cx="1545336" cy="457200"/>
          </a:xfrm>
          <a:prstGeom prst="rect">
            <a:avLst/>
          </a:prstGeom>
          <a:noFill/>
          <a:ln/>
        </p:spPr>
        <p:txBody>
          <a:bodyPr wrap="square" lIns="0" tIns="0" rIns="0" bIns="0" rtlCol="0" anchor="ctr"/>
          <a:lstStyle/>
          <a:p>
            <a:pPr algn="ctr" indent="0" marL="0">
              <a:buNone/>
            </a:pPr>
            <a:r>
              <a:rPr lang="en-US" sz="950" dirty="0">
                <a:solidFill>
                  <a:srgbClr val="5B6485"/>
                </a:solidFill>
                <a:latin typeface="Calibri" pitchFamily="34" charset="0"/>
                <a:ea typeface="Calibri" pitchFamily="34" charset="-122"/>
                <a:cs typeface="Calibri" pitchFamily="34" charset="-120"/>
              </a:rPr>
              <a:t>Dense / MMR / Hybrid / Reranked</a:t>
            </a:r>
            <a:endParaRPr lang="en-US" sz="950" dirty="0"/>
          </a:p>
        </p:txBody>
      </p:sp>
      <p:sp>
        <p:nvSpPr>
          <p:cNvPr id="28" name="Text 26"/>
          <p:cNvSpPr txBox="1"/>
          <p:nvPr/>
        </p:nvSpPr>
        <p:spPr>
          <a:xfrm>
            <a:off x="9555480" y="2514600"/>
            <a:ext cx="137160" cy="548640"/>
          </a:xfrm>
          <a:prstGeom prst="rect">
            <a:avLst/>
          </a:prstGeom>
          <a:noFill/>
          <a:ln/>
        </p:spPr>
        <p:txBody>
          <a:bodyPr wrap="square" lIns="0" tIns="0" rIns="0" bIns="0" rtlCol="0" anchor="ctr"/>
          <a:lstStyle/>
          <a:p>
            <a:pPr algn="ctr" indent="0" marL="0">
              <a:buNone/>
            </a:pPr>
            <a:r>
              <a:rPr lang="en-US" sz="1600" dirty="0">
                <a:solidFill>
                  <a:srgbClr val="5B6485"/>
                </a:solidFill>
                <a:latin typeface="Calibri" pitchFamily="34" charset="0"/>
                <a:ea typeface="Calibri" pitchFamily="34" charset="-122"/>
                <a:cs typeface="Calibri" pitchFamily="34" charset="-120"/>
              </a:rPr>
              <a:t>→</a:t>
            </a:r>
            <a:endParaRPr lang="en-US" sz="1600" dirty="0"/>
          </a:p>
        </p:txBody>
      </p:sp>
      <p:sp>
        <p:nvSpPr>
          <p:cNvPr id="29" name="Shape 27"/>
          <p:cNvSpPr/>
          <p:nvPr/>
        </p:nvSpPr>
        <p:spPr>
          <a:xfrm>
            <a:off x="9692640" y="2103120"/>
            <a:ext cx="1691640" cy="1371600"/>
          </a:xfrm>
          <a:prstGeom prst="roundRect">
            <a:avLst>
              <a:gd name="adj" fmla="val 6667"/>
            </a:avLst>
          </a:prstGeom>
          <a:solidFill>
            <a:srgbClr val="1E2761"/>
          </a:solidFill>
          <a:ln/>
        </p:spPr>
      </p:sp>
      <p:sp>
        <p:nvSpPr>
          <p:cNvPr id="30" name="Text 28"/>
          <p:cNvSpPr txBox="1"/>
          <p:nvPr/>
        </p:nvSpPr>
        <p:spPr>
          <a:xfrm>
            <a:off x="9692640" y="2212848"/>
            <a:ext cx="1691640" cy="45720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1" name="Text 29"/>
          <p:cNvSpPr txBox="1"/>
          <p:nvPr/>
        </p:nvSpPr>
        <p:spPr>
          <a:xfrm>
            <a:off x="9765792" y="2651760"/>
            <a:ext cx="1545336"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Gemini LLM</a:t>
            </a:r>
            <a:endParaRPr lang="en-US" sz="1200" dirty="0"/>
          </a:p>
        </p:txBody>
      </p:sp>
      <p:sp>
        <p:nvSpPr>
          <p:cNvPr id="32" name="Text 30"/>
          <p:cNvSpPr txBox="1"/>
          <p:nvPr/>
        </p:nvSpPr>
        <p:spPr>
          <a:xfrm>
            <a:off x="9765792" y="2971800"/>
            <a:ext cx="1545336" cy="457200"/>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Strict grounded-answer generation</a:t>
            </a:r>
            <a:endParaRPr lang="en-US" sz="950" dirty="0"/>
          </a:p>
        </p:txBody>
      </p:sp>
      <p:sp>
        <p:nvSpPr>
          <p:cNvPr id="33" name="Shape 31"/>
          <p:cNvSpPr/>
          <p:nvPr/>
        </p:nvSpPr>
        <p:spPr>
          <a:xfrm>
            <a:off x="548640" y="3931920"/>
            <a:ext cx="11064240" cy="1737360"/>
          </a:xfrm>
          <a:prstGeom prst="roundRect">
            <a:avLst>
              <a:gd name="adj" fmla="val 4211"/>
            </a:avLst>
          </a:prstGeom>
          <a:solidFill>
            <a:srgbClr val="F4F6FC"/>
          </a:solidFill>
          <a:ln/>
        </p:spPr>
      </p:sp>
      <p:sp>
        <p:nvSpPr>
          <p:cNvPr id="34" name="Text 32"/>
          <p:cNvSpPr txBox="1"/>
          <p:nvPr/>
        </p:nvSpPr>
        <p:spPr>
          <a:xfrm>
            <a:off x="822960" y="4160520"/>
            <a:ext cx="10515600" cy="1371600"/>
          </a:xfrm>
          <a:prstGeom prst="rect">
            <a:avLst/>
          </a:prstGeom>
          <a:noFill/>
          <a:ln/>
        </p:spPr>
        <p:txBody>
          <a:bodyPr wrap="square" lIns="0" tIns="0" rIns="0" bIns="0" rtlCol="0" anchor="ctr"/>
          <a:lstStyle/>
          <a:p>
            <a:pPr indent="0" marL="0">
              <a:lnSpc>
                <a:spcPct val="120000"/>
              </a:lnSpc>
              <a:buNone/>
            </a:pPr>
            <a:r>
              <a:rPr lang="en-US" sz="1500" b="1" dirty="0">
                <a:solidFill>
                  <a:srgbClr val="1E2761"/>
                </a:solidFill>
                <a:latin typeface="Calibri" pitchFamily="34" charset="0"/>
                <a:ea typeface="Calibri" pitchFamily="34" charset="-122"/>
                <a:cs typeface="Calibri" pitchFamily="34" charset="-120"/>
              </a:rPr>
              <a:t>Answer + Top-3 Citations
</a:t>
            </a:r>
            <a:endParaRPr lang="en-US" sz="1500" dirty="0"/>
          </a:p>
          <a:p>
            <a:pPr indent="0" marL="0">
              <a:lnSpc>
                <a:spcPct val="120000"/>
              </a:lnSpc>
              <a:buNone/>
            </a:pPr>
            <a:r>
              <a:rPr lang="en-US" sz="1300" dirty="0">
                <a:solidFill>
                  <a:srgbClr val="1A1D2E"/>
                </a:solidFill>
                <a:latin typeface="Calibri" pitchFamily="34" charset="0"/>
                <a:ea typeface="Calibri" pitchFamily="34" charset="-122"/>
                <a:cs typeface="Calibri" pitchFamily="34" charset="-120"/>
              </a:rPr>
              <a:t>Every response cites paper title + page number for the passages it was grounded in, and the model is instructed to answer “I don’t know based on the provided papers” when the retrieved context doesn’t contain the answer — rather than guessing.</a:t>
            </a:r>
            <a:endParaRPr lang="en-US" sz="1500" dirty="0"/>
          </a:p>
        </p:txBody>
      </p:sp>
      <p:sp>
        <p:nvSpPr>
          <p:cNvPr id="35" name="Text 33"/>
          <p:cNvSpPr txBox="1"/>
          <p:nvPr/>
        </p:nvSpPr>
        <p:spPr>
          <a:xfrm>
            <a:off x="11365992" y="6355080"/>
            <a:ext cx="457200" cy="320040"/>
          </a:xfrm>
          <a:prstGeom prst="rect">
            <a:avLst/>
          </a:prstGeom>
          <a:noFill/>
          <a:ln/>
        </p:spPr>
        <p:txBody>
          <a:bodyPr wrap="square" rtlCol="0" anchor="ctr"/>
          <a:lstStyle/>
          <a:p>
            <a:pPr algn="r" indent="0" marL="0">
              <a:buNone/>
            </a:pPr>
            <a:r>
              <a:rPr lang="en-US" sz="1100" dirty="0">
                <a:solidFill>
                  <a:srgbClr val="5B6485"/>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rtlCol="0" anchor="ctr"/>
          <a:lstStyle/>
          <a:p>
            <a:pPr indent="0" marL="0">
              <a:buNone/>
            </a:pPr>
            <a:r>
              <a:rPr lang="en-US" sz="1200" b="1" spc="200" kern="0" dirty="0">
                <a:solidFill>
                  <a:srgbClr val="5B6485"/>
                </a:solidFill>
                <a:latin typeface="Calibri" pitchFamily="34" charset="0"/>
                <a:ea typeface="Calibri" pitchFamily="34" charset="-122"/>
                <a:cs typeface="Calibri" pitchFamily="34" charset="-120"/>
              </a:rPr>
              <a:t>DATA &amp; CHUNKING — DATASET</a:t>
            </a:r>
            <a:endParaRPr lang="en-US" sz="1200" dirty="0"/>
          </a:p>
        </p:txBody>
      </p:sp>
      <p:sp>
        <p:nvSpPr>
          <p:cNvPr id="3" name="Text 1"/>
          <p:cNvSpPr txBox="1"/>
          <p:nvPr/>
        </p:nvSpPr>
        <p:spPr>
          <a:xfrm>
            <a:off x="548640" y="713232"/>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Six papers, extracted per page for accurate citations</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6400800" cy="3291840"/>
        </p:xfrm>
        <a:graphic>
          <a:graphicData uri="http://schemas.openxmlformats.org/drawingml/2006/table">
            <a:tbl>
              <a:tblPr/>
              <a:tblGrid>
                <a:gridCol w="2133600"/>
                <a:gridCol w="2133600"/>
                <a:gridCol w="2133600"/>
              </a:tblGrid>
              <a:tr h="4572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Paper</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Pages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Extracted chars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2761"/>
                    </a:solidFill>
                  </a:tcPr>
                </a:tc>
              </a:tr>
              <a:tr h="457200">
                <a:tc>
                  <a:txBody>
                    <a:bodyPr/>
                    <a:lstStyle/>
                    <a:p>
                      <a:pPr algn="l" indent="0" marL="0">
                        <a:buNone/>
                      </a:pPr>
                      <a:r>
                        <a:rPr lang="en-US" sz="1300" b="1" dirty="0">
                          <a:solidFill>
                            <a:srgbClr val="1A1D2E"/>
                          </a:solidFill>
                          <a:latin typeface="Calibri" pitchFamily="34" charset="0"/>
                          <a:ea typeface="Calibri" pitchFamily="34" charset="-122"/>
                          <a:cs typeface="Calibri" pitchFamily="34" charset="-120"/>
                        </a:rPr>
                        <a:t>Attention Is All You Need</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A1D2E"/>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A1D2E"/>
                          </a:solidFill>
                          <a:latin typeface="Calibri" pitchFamily="34" charset="0"/>
                          <a:ea typeface="Calibri" pitchFamily="34" charset="-122"/>
                          <a:cs typeface="Calibri" pitchFamily="34" charset="-120"/>
                        </a:rPr>
                        <a:t>39,585</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l" indent="0" marL="0">
                        <a:buNone/>
                      </a:pPr>
                      <a:r>
                        <a:rPr lang="en-US" sz="1300" b="1" dirty="0">
                          <a:solidFill>
                            <a:srgbClr val="1A1D2E"/>
                          </a:solidFill>
                          <a:latin typeface="Calibri" pitchFamily="34" charset="0"/>
                          <a:ea typeface="Calibri" pitchFamily="34" charset="-122"/>
                          <a:cs typeface="Calibri" pitchFamily="34" charset="-120"/>
                        </a:rPr>
                        <a:t>BERT</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4F6FC"/>
                    </a:solidFill>
                  </a:tcPr>
                </a:tc>
                <a:tc>
                  <a:txBody>
                    <a:bodyPr/>
                    <a:lstStyle/>
                    <a:p>
                      <a:pPr algn="ctr" indent="0" marL="0">
                        <a:buNone/>
                      </a:pPr>
                      <a:r>
                        <a:rPr lang="en-US" sz="1300" dirty="0">
                          <a:solidFill>
                            <a:srgbClr val="1A1D2E"/>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4F6FC"/>
                    </a:solidFill>
                  </a:tcPr>
                </a:tc>
                <a:tc>
                  <a:txBody>
                    <a:bodyPr/>
                    <a:lstStyle/>
                    <a:p>
                      <a:pPr algn="ctr" indent="0" marL="0">
                        <a:buNone/>
                      </a:pPr>
                      <a:r>
                        <a:rPr lang="en-US" sz="1300" dirty="0">
                          <a:solidFill>
                            <a:srgbClr val="1A1D2E"/>
                          </a:solidFill>
                          <a:latin typeface="Calibri" pitchFamily="34" charset="0"/>
                          <a:ea typeface="Calibri" pitchFamily="34" charset="-122"/>
                          <a:cs typeface="Calibri" pitchFamily="34" charset="-120"/>
                        </a:rPr>
                        <a:t>64,087</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4F6FC"/>
                    </a:solidFill>
                  </a:tcPr>
                </a:tc>
              </a:tr>
              <a:tr h="457200">
                <a:tc>
                  <a:txBody>
                    <a:bodyPr/>
                    <a:lstStyle/>
                    <a:p>
                      <a:pPr algn="l" indent="0" marL="0">
                        <a:buNone/>
                      </a:pPr>
                      <a:r>
                        <a:rPr lang="en-US" sz="1300" b="1" dirty="0">
                          <a:solidFill>
                            <a:srgbClr val="1A1D2E"/>
                          </a:solidFill>
                          <a:latin typeface="Calibri" pitchFamily="34" charset="0"/>
                          <a:ea typeface="Calibri" pitchFamily="34" charset="-122"/>
                          <a:cs typeface="Calibri" pitchFamily="34" charset="-120"/>
                        </a:rPr>
                        <a:t>GPT-3 (Few-Shot Learners)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A1D2E"/>
                          </a:solidFill>
                          <a:latin typeface="Calibri" pitchFamily="34" charset="0"/>
                          <a:ea typeface="Calibri" pitchFamily="34" charset="-122"/>
                          <a:cs typeface="Calibri" pitchFamily="34" charset="-120"/>
                        </a:rPr>
                        <a:t>75</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A1D2E"/>
                          </a:solidFill>
                          <a:latin typeface="Calibri" pitchFamily="34" charset="0"/>
                          <a:ea typeface="Calibri" pitchFamily="34" charset="-122"/>
                          <a:cs typeface="Calibri" pitchFamily="34" charset="-120"/>
                        </a:rPr>
                        <a:t>236,657</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l" indent="0" marL="0">
                        <a:buNone/>
                      </a:pPr>
                      <a:r>
                        <a:rPr lang="en-US" sz="1300" b="1" dirty="0">
                          <a:solidFill>
                            <a:srgbClr val="1A1D2E"/>
                          </a:solidFill>
                          <a:latin typeface="Calibri" pitchFamily="34" charset="0"/>
                          <a:ea typeface="Calibri" pitchFamily="34" charset="-122"/>
                          <a:cs typeface="Calibri" pitchFamily="34" charset="-120"/>
                        </a:rPr>
                        <a:t>InstructGPT</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4F6FC"/>
                    </a:solidFill>
                  </a:tcPr>
                </a:tc>
                <a:tc>
                  <a:txBody>
                    <a:bodyPr/>
                    <a:lstStyle/>
                    <a:p>
                      <a:pPr algn="ctr" indent="0" marL="0">
                        <a:buNone/>
                      </a:pPr>
                      <a:r>
                        <a:rPr lang="en-US" sz="1300" dirty="0">
                          <a:solidFill>
                            <a:srgbClr val="1A1D2E"/>
                          </a:solidFill>
                          <a:latin typeface="Calibri" pitchFamily="34" charset="0"/>
                          <a:ea typeface="Calibri" pitchFamily="34" charset="-122"/>
                          <a:cs typeface="Calibri" pitchFamily="34" charset="-120"/>
                        </a:rPr>
                        <a:t>68</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4F6FC"/>
                    </a:solidFill>
                  </a:tcPr>
                </a:tc>
                <a:tc>
                  <a:txBody>
                    <a:bodyPr/>
                    <a:lstStyle/>
                    <a:p>
                      <a:pPr algn="ctr" indent="0" marL="0">
                        <a:buNone/>
                      </a:pPr>
                      <a:r>
                        <a:rPr lang="en-US" sz="1300" dirty="0">
                          <a:solidFill>
                            <a:srgbClr val="1A1D2E"/>
                          </a:solidFill>
                          <a:latin typeface="Calibri" pitchFamily="34" charset="0"/>
                          <a:ea typeface="Calibri" pitchFamily="34" charset="-122"/>
                          <a:cs typeface="Calibri" pitchFamily="34" charset="-120"/>
                        </a:rPr>
                        <a:t>181,755</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4F6FC"/>
                    </a:solidFill>
                  </a:tcPr>
                </a:tc>
              </a:tr>
              <a:tr h="457200">
                <a:tc>
                  <a:txBody>
                    <a:bodyPr/>
                    <a:lstStyle/>
                    <a:p>
                      <a:pPr algn="l" indent="0" marL="0">
                        <a:buNone/>
                      </a:pPr>
                      <a:r>
                        <a:rPr lang="en-US" sz="1300" b="1" dirty="0">
                          <a:solidFill>
                            <a:srgbClr val="1A1D2E"/>
                          </a:solidFill>
                          <a:latin typeface="Calibri" pitchFamily="34" charset="0"/>
                          <a:ea typeface="Calibri" pitchFamily="34" charset="-122"/>
                          <a:cs typeface="Calibri" pitchFamily="34" charset="-120"/>
                        </a:rPr>
                        <a:t>LoRA</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A1D2E"/>
                          </a:solidFill>
                          <a:latin typeface="Calibri" pitchFamily="34" charset="0"/>
                          <a:ea typeface="Calibri" pitchFamily="34" charset="-122"/>
                          <a:cs typeface="Calibri" pitchFamily="34" charset="-120"/>
                        </a:rPr>
                        <a:t>26</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A1D2E"/>
                          </a:solidFill>
                          <a:latin typeface="Calibri" pitchFamily="34" charset="0"/>
                          <a:ea typeface="Calibri" pitchFamily="34" charset="-122"/>
                          <a:cs typeface="Calibri" pitchFamily="34" charset="-120"/>
                        </a:rPr>
                        <a:t>82,529</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l" indent="0" marL="0">
                        <a:buNone/>
                      </a:pPr>
                      <a:r>
                        <a:rPr lang="en-US" sz="1300" b="1" dirty="0">
                          <a:solidFill>
                            <a:srgbClr val="1A1D2E"/>
                          </a:solidFill>
                          <a:latin typeface="Calibri" pitchFamily="34" charset="0"/>
                          <a:ea typeface="Calibri" pitchFamily="34" charset="-122"/>
                          <a:cs typeface="Calibri" pitchFamily="34" charset="-120"/>
                        </a:rPr>
                        <a:t>SELF-RAG</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4F6FC"/>
                    </a:solidFill>
                  </a:tcPr>
                </a:tc>
                <a:tc>
                  <a:txBody>
                    <a:bodyPr/>
                    <a:lstStyle/>
                    <a:p>
                      <a:pPr algn="ctr" indent="0" marL="0">
                        <a:buNone/>
                      </a:pPr>
                      <a:r>
                        <a:rPr lang="en-US" sz="1300" dirty="0">
                          <a:solidFill>
                            <a:srgbClr val="1A1D2E"/>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4F6FC"/>
                    </a:solidFill>
                  </a:tcPr>
                </a:tc>
                <a:tc>
                  <a:txBody>
                    <a:bodyPr/>
                    <a:lstStyle/>
                    <a:p>
                      <a:pPr algn="ctr" indent="0" marL="0">
                        <a:buNone/>
                      </a:pPr>
                      <a:r>
                        <a:rPr lang="en-US" sz="1300" dirty="0">
                          <a:solidFill>
                            <a:srgbClr val="1A1D2E"/>
                          </a:solidFill>
                          <a:latin typeface="Calibri" pitchFamily="34" charset="0"/>
                          <a:ea typeface="Calibri" pitchFamily="34" charset="-122"/>
                          <a:cs typeface="Calibri" pitchFamily="34" charset="-120"/>
                        </a:rPr>
                        <a:t>105,688</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4F6FC"/>
                    </a:solidFill>
                  </a:tcPr>
                </a:tc>
              </a:tr>
            </a:tbl>
          </a:graphicData>
        </a:graphic>
      </p:graphicFrame>
      <p:sp>
        <p:nvSpPr>
          <p:cNvPr id="5" name="Shape 2"/>
          <p:cNvSpPr/>
          <p:nvPr/>
        </p:nvSpPr>
        <p:spPr>
          <a:xfrm>
            <a:off x="7315200" y="1737360"/>
            <a:ext cx="2011680" cy="1463040"/>
          </a:xfrm>
          <a:prstGeom prst="roundRect">
            <a:avLst>
              <a:gd name="adj" fmla="val 5000"/>
            </a:avLst>
          </a:prstGeom>
          <a:solidFill>
            <a:srgbClr val="F4F6FC"/>
          </a:solidFill>
          <a:ln/>
          <a:effectLst>
            <a:outerShdw sx="100000" sy="100000" kx="0" ky="0" algn="bl" rotWithShape="0" blurRad="76200" dist="25400" dir="5400000">
              <a:srgbClr val="1E2761">
                <a:alpha val="12000"/>
              </a:srgbClr>
            </a:outerShdw>
          </a:effectLst>
        </p:spPr>
      </p:sp>
      <p:sp>
        <p:nvSpPr>
          <p:cNvPr id="6" name="Text 3"/>
          <p:cNvSpPr txBox="1"/>
          <p:nvPr/>
        </p:nvSpPr>
        <p:spPr>
          <a:xfrm>
            <a:off x="7315200" y="1901952"/>
            <a:ext cx="2011680" cy="822960"/>
          </a:xfrm>
          <a:prstGeom prst="rect">
            <a:avLst/>
          </a:prstGeom>
          <a:noFill/>
          <a:ln/>
        </p:spPr>
        <p:txBody>
          <a:bodyPr wrap="square" lIns="0" tIns="0" rIns="0" bIns="0"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230</a:t>
            </a:r>
            <a:endParaRPr lang="en-US" sz="4000" dirty="0"/>
          </a:p>
        </p:txBody>
      </p:sp>
      <p:sp>
        <p:nvSpPr>
          <p:cNvPr id="7" name="Text 4"/>
          <p:cNvSpPr txBox="1"/>
          <p:nvPr/>
        </p:nvSpPr>
        <p:spPr>
          <a:xfrm>
            <a:off x="7452360" y="2743200"/>
            <a:ext cx="1737360" cy="365760"/>
          </a:xfrm>
          <a:prstGeom prst="rect">
            <a:avLst/>
          </a:prstGeom>
          <a:noFill/>
          <a:ln/>
        </p:spPr>
        <p:txBody>
          <a:bodyPr wrap="square" lIns="0" tIns="0" rIns="0" bIns="0" rtlCol="0" anchor="ctr"/>
          <a:lstStyle/>
          <a:p>
            <a:pPr algn="ctr" indent="0" marL="0">
              <a:buNone/>
            </a:pPr>
            <a:r>
              <a:rPr lang="en-US" sz="1200" dirty="0">
                <a:solidFill>
                  <a:srgbClr val="5B6485"/>
                </a:solidFill>
                <a:latin typeface="Calibri" pitchFamily="34" charset="0"/>
                <a:ea typeface="Calibri" pitchFamily="34" charset="-122"/>
                <a:cs typeface="Calibri" pitchFamily="34" charset="-120"/>
              </a:rPr>
              <a:t>pages loaded</a:t>
            </a:r>
            <a:endParaRPr lang="en-US" sz="1200" dirty="0"/>
          </a:p>
        </p:txBody>
      </p:sp>
      <p:sp>
        <p:nvSpPr>
          <p:cNvPr id="8" name="Shape 5"/>
          <p:cNvSpPr/>
          <p:nvPr/>
        </p:nvSpPr>
        <p:spPr>
          <a:xfrm>
            <a:off x="9509760" y="1737360"/>
            <a:ext cx="2011680" cy="1463040"/>
          </a:xfrm>
          <a:prstGeom prst="roundRect">
            <a:avLst>
              <a:gd name="adj" fmla="val 5000"/>
            </a:avLst>
          </a:prstGeom>
          <a:solidFill>
            <a:srgbClr val="F4F6FC"/>
          </a:solidFill>
          <a:ln/>
          <a:effectLst>
            <a:outerShdw sx="100000" sy="100000" kx="0" ky="0" algn="bl" rotWithShape="0" blurRad="76200" dist="25400" dir="5400000">
              <a:srgbClr val="1E2761">
                <a:alpha val="12000"/>
              </a:srgbClr>
            </a:outerShdw>
          </a:effectLst>
        </p:spPr>
      </p:sp>
      <p:sp>
        <p:nvSpPr>
          <p:cNvPr id="9" name="Text 6"/>
          <p:cNvSpPr txBox="1"/>
          <p:nvPr/>
        </p:nvSpPr>
        <p:spPr>
          <a:xfrm>
            <a:off x="9509760" y="1901952"/>
            <a:ext cx="2011680" cy="822960"/>
          </a:xfrm>
          <a:prstGeom prst="rect">
            <a:avLst/>
          </a:prstGeom>
          <a:noFill/>
          <a:ln/>
        </p:spPr>
        <p:txBody>
          <a:bodyPr wrap="square" lIns="0" tIns="0" rIns="0" bIns="0"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710K</a:t>
            </a:r>
            <a:endParaRPr lang="en-US" sz="4000" dirty="0"/>
          </a:p>
        </p:txBody>
      </p:sp>
      <p:sp>
        <p:nvSpPr>
          <p:cNvPr id="10" name="Text 7"/>
          <p:cNvSpPr txBox="1"/>
          <p:nvPr/>
        </p:nvSpPr>
        <p:spPr>
          <a:xfrm>
            <a:off x="9646920" y="2743200"/>
            <a:ext cx="1737360" cy="365760"/>
          </a:xfrm>
          <a:prstGeom prst="rect">
            <a:avLst/>
          </a:prstGeom>
          <a:noFill/>
          <a:ln/>
        </p:spPr>
        <p:txBody>
          <a:bodyPr wrap="square" lIns="0" tIns="0" rIns="0" bIns="0" rtlCol="0" anchor="ctr"/>
          <a:lstStyle/>
          <a:p>
            <a:pPr algn="ctr" indent="0" marL="0">
              <a:buNone/>
            </a:pPr>
            <a:r>
              <a:rPr lang="en-US" sz="1200" dirty="0">
                <a:solidFill>
                  <a:srgbClr val="5B6485"/>
                </a:solidFill>
                <a:latin typeface="Calibri" pitchFamily="34" charset="0"/>
                <a:ea typeface="Calibri" pitchFamily="34" charset="-122"/>
                <a:cs typeface="Calibri" pitchFamily="34" charset="-120"/>
              </a:rPr>
              <a:t>characters extracted</a:t>
            </a:r>
            <a:endParaRPr lang="en-US" sz="1200" dirty="0"/>
          </a:p>
        </p:txBody>
      </p:sp>
      <p:sp>
        <p:nvSpPr>
          <p:cNvPr id="11" name="Shape 8"/>
          <p:cNvSpPr/>
          <p:nvPr/>
        </p:nvSpPr>
        <p:spPr>
          <a:xfrm>
            <a:off x="7315200" y="3383280"/>
            <a:ext cx="2011680" cy="1463040"/>
          </a:xfrm>
          <a:prstGeom prst="roundRect">
            <a:avLst>
              <a:gd name="adj" fmla="val 5000"/>
            </a:avLst>
          </a:prstGeom>
          <a:solidFill>
            <a:srgbClr val="F4F6FC"/>
          </a:solidFill>
          <a:ln/>
          <a:effectLst>
            <a:outerShdw sx="100000" sy="100000" kx="0" ky="0" algn="bl" rotWithShape="0" blurRad="76200" dist="25400" dir="5400000">
              <a:srgbClr val="1E2761">
                <a:alpha val="12000"/>
              </a:srgbClr>
            </a:outerShdw>
          </a:effectLst>
        </p:spPr>
      </p:sp>
      <p:sp>
        <p:nvSpPr>
          <p:cNvPr id="12" name="Text 9"/>
          <p:cNvSpPr txBox="1"/>
          <p:nvPr/>
        </p:nvSpPr>
        <p:spPr>
          <a:xfrm>
            <a:off x="7315200" y="3547872"/>
            <a:ext cx="2011680" cy="822960"/>
          </a:xfrm>
          <a:prstGeom prst="rect">
            <a:avLst/>
          </a:prstGeom>
          <a:noFill/>
          <a:ln/>
        </p:spPr>
        <p:txBody>
          <a:bodyPr wrap="square" lIns="0" tIns="0" rIns="0" bIns="0" rtlCol="0" anchor="ctr"/>
          <a:lstStyle/>
          <a:p>
            <a:pPr algn="ctr" indent="0" marL="0">
              <a:buNone/>
            </a:pPr>
            <a:r>
              <a:rPr lang="en-US" sz="4000" b="1" dirty="0">
                <a:solidFill>
                  <a:srgbClr val="2E7D5B"/>
                </a:solidFill>
                <a:latin typeface="Cambria" pitchFamily="34" charset="0"/>
                <a:ea typeface="Cambria" pitchFamily="34" charset="-122"/>
                <a:cs typeface="Cambria" pitchFamily="34" charset="-120"/>
              </a:rPr>
              <a:t>1,021</a:t>
            </a:r>
            <a:endParaRPr lang="en-US" sz="4000" dirty="0"/>
          </a:p>
        </p:txBody>
      </p:sp>
      <p:sp>
        <p:nvSpPr>
          <p:cNvPr id="13" name="Text 10"/>
          <p:cNvSpPr txBox="1"/>
          <p:nvPr/>
        </p:nvSpPr>
        <p:spPr>
          <a:xfrm>
            <a:off x="7452360" y="4389120"/>
            <a:ext cx="1737360" cy="365760"/>
          </a:xfrm>
          <a:prstGeom prst="rect">
            <a:avLst/>
          </a:prstGeom>
          <a:noFill/>
          <a:ln/>
        </p:spPr>
        <p:txBody>
          <a:bodyPr wrap="square" lIns="0" tIns="0" rIns="0" bIns="0" rtlCol="0" anchor="ctr"/>
          <a:lstStyle/>
          <a:p>
            <a:pPr algn="ctr" indent="0" marL="0">
              <a:buNone/>
            </a:pPr>
            <a:r>
              <a:rPr lang="en-US" sz="1200" dirty="0">
                <a:solidFill>
                  <a:srgbClr val="5B6485"/>
                </a:solidFill>
                <a:latin typeface="Calibri" pitchFamily="34" charset="0"/>
                <a:ea typeface="Calibri" pitchFamily="34" charset="-122"/>
                <a:cs typeface="Calibri" pitchFamily="34" charset="-120"/>
              </a:rPr>
              <a:t>final chunks</a:t>
            </a:r>
            <a:endParaRPr lang="en-US" sz="1200" dirty="0"/>
          </a:p>
        </p:txBody>
      </p:sp>
      <p:sp>
        <p:nvSpPr>
          <p:cNvPr id="14" name="Shape 11"/>
          <p:cNvSpPr/>
          <p:nvPr/>
        </p:nvSpPr>
        <p:spPr>
          <a:xfrm>
            <a:off x="9509760" y="3383280"/>
            <a:ext cx="2011680" cy="1463040"/>
          </a:xfrm>
          <a:prstGeom prst="roundRect">
            <a:avLst>
              <a:gd name="adj" fmla="val 5000"/>
            </a:avLst>
          </a:prstGeom>
          <a:solidFill>
            <a:srgbClr val="F4F6FC"/>
          </a:solidFill>
          <a:ln/>
          <a:effectLst>
            <a:outerShdw sx="100000" sy="100000" kx="0" ky="0" algn="bl" rotWithShape="0" blurRad="76200" dist="25400" dir="5400000">
              <a:srgbClr val="1E2761">
                <a:alpha val="12000"/>
              </a:srgbClr>
            </a:outerShdw>
          </a:effectLst>
        </p:spPr>
      </p:sp>
      <p:sp>
        <p:nvSpPr>
          <p:cNvPr id="15" name="Text 12"/>
          <p:cNvSpPr txBox="1"/>
          <p:nvPr/>
        </p:nvSpPr>
        <p:spPr>
          <a:xfrm>
            <a:off x="9509760" y="3547872"/>
            <a:ext cx="2011680" cy="822960"/>
          </a:xfrm>
          <a:prstGeom prst="rect">
            <a:avLst/>
          </a:prstGeom>
          <a:noFill/>
          <a:ln/>
        </p:spPr>
        <p:txBody>
          <a:bodyPr wrap="square" lIns="0" tIns="0" rIns="0" bIns="0" rtlCol="0" anchor="ctr"/>
          <a:lstStyle/>
          <a:p>
            <a:pPr algn="ctr" indent="0" marL="0">
              <a:buNone/>
            </a:pPr>
            <a:r>
              <a:rPr lang="en-US" sz="4000" b="1" dirty="0">
                <a:solidFill>
                  <a:srgbClr val="2E7D5B"/>
                </a:solidFill>
                <a:latin typeface="Cambria" pitchFamily="34" charset="0"/>
                <a:ea typeface="Cambria" pitchFamily="34" charset="-122"/>
                <a:cs typeface="Cambria" pitchFamily="34" charset="-120"/>
              </a:rPr>
              <a:t>100%</a:t>
            </a:r>
            <a:endParaRPr lang="en-US" sz="4000" dirty="0"/>
          </a:p>
        </p:txBody>
      </p:sp>
      <p:sp>
        <p:nvSpPr>
          <p:cNvPr id="16" name="Text 13"/>
          <p:cNvSpPr txBox="1"/>
          <p:nvPr/>
        </p:nvSpPr>
        <p:spPr>
          <a:xfrm>
            <a:off x="9646920" y="4389120"/>
            <a:ext cx="1737360" cy="365760"/>
          </a:xfrm>
          <a:prstGeom prst="rect">
            <a:avLst/>
          </a:prstGeom>
          <a:noFill/>
          <a:ln/>
        </p:spPr>
        <p:txBody>
          <a:bodyPr wrap="square" lIns="0" tIns="0" rIns="0" bIns="0" rtlCol="0" anchor="ctr"/>
          <a:lstStyle/>
          <a:p>
            <a:pPr algn="ctr" indent="0" marL="0">
              <a:buNone/>
            </a:pPr>
            <a:r>
              <a:rPr lang="en-US" sz="1200" dirty="0">
                <a:solidFill>
                  <a:srgbClr val="5B6485"/>
                </a:solidFill>
                <a:latin typeface="Calibri" pitchFamily="34" charset="0"/>
                <a:ea typeface="Calibri" pitchFamily="34" charset="-122"/>
                <a:cs typeface="Calibri" pitchFamily="34" charset="-120"/>
              </a:rPr>
              <a:t>pages had usable text</a:t>
            </a:r>
            <a:endParaRPr lang="en-US" sz="1200" dirty="0"/>
          </a:p>
          <a:p>
            <a:pPr algn="ctr" indent="0" marL="0">
              <a:buNone/>
            </a:pPr>
            <a:r>
              <a:rPr lang="en-US" sz="1200" dirty="0">
                <a:solidFill>
                  <a:srgbClr val="5B6485"/>
                </a:solidFill>
                <a:latin typeface="Calibri" pitchFamily="34" charset="0"/>
                <a:ea typeface="Calibri" pitchFamily="34" charset="-122"/>
                <a:cs typeface="Calibri" pitchFamily="34" charset="-120"/>
              </a:rPr>
              <a:t>(no OCR needed)</a:t>
            </a:r>
            <a:endParaRPr lang="en-US" sz="1200" dirty="0"/>
          </a:p>
        </p:txBody>
      </p:sp>
      <p:sp>
        <p:nvSpPr>
          <p:cNvPr id="17" name="Text 14"/>
          <p:cNvSpPr txBox="1"/>
          <p:nvPr/>
        </p:nvSpPr>
        <p:spPr>
          <a:xfrm>
            <a:off x="11365992" y="6355080"/>
            <a:ext cx="457200" cy="320040"/>
          </a:xfrm>
          <a:prstGeom prst="rect">
            <a:avLst/>
          </a:prstGeom>
          <a:noFill/>
          <a:ln/>
        </p:spPr>
        <p:txBody>
          <a:bodyPr wrap="square" rtlCol="0" anchor="ctr"/>
          <a:lstStyle/>
          <a:p>
            <a:pPr algn="r" indent="0" marL="0">
              <a:buNone/>
            </a:pPr>
            <a:r>
              <a:rPr lang="en-US" sz="1100" dirty="0">
                <a:solidFill>
                  <a:srgbClr val="5B6485"/>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rtlCol="0" anchor="ctr"/>
          <a:lstStyle/>
          <a:p>
            <a:pPr indent="0" marL="0">
              <a:buNone/>
            </a:pPr>
            <a:r>
              <a:rPr lang="en-US" sz="1200" b="1" spc="200" kern="0" dirty="0">
                <a:solidFill>
                  <a:srgbClr val="5B6485"/>
                </a:solidFill>
                <a:latin typeface="Calibri" pitchFamily="34" charset="0"/>
                <a:ea typeface="Calibri" pitchFamily="34" charset="-122"/>
                <a:cs typeface="Calibri" pitchFamily="34" charset="-120"/>
              </a:rPr>
              <a:t>DATA &amp; CHUNKING — STRATEGY</a:t>
            </a:r>
            <a:endParaRPr lang="en-US" sz="1200" dirty="0"/>
          </a:p>
        </p:txBody>
      </p:sp>
      <p:sp>
        <p:nvSpPr>
          <p:cNvPr id="3" name="Text 1"/>
          <p:cNvSpPr txBox="1"/>
          <p:nvPr/>
        </p:nvSpPr>
        <p:spPr>
          <a:xfrm>
            <a:off x="548640" y="713232"/>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Three approaches compared; recursive splitting selected</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2194560"/>
        </p:xfrm>
        <a:graphic>
          <a:graphicData uri="http://schemas.openxmlformats.org/drawingml/2006/table">
            <a:tbl>
              <a:tblPr/>
              <a:tblGrid>
                <a:gridCol w="2743200"/>
                <a:gridCol w="1463040"/>
                <a:gridCol w="1645920"/>
                <a:gridCol w="5212080"/>
              </a:tblGrid>
              <a:tr h="54864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Strategy</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Chunks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Avg chars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Verdict</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2761"/>
                    </a:solidFill>
                  </a:tcPr>
                </a:tc>
              </a:tr>
              <a:tr h="548640">
                <a:tc>
                  <a:txBody>
                    <a:bodyPr/>
                    <a:lstStyle/>
                    <a:p>
                      <a:pPr algn="l" indent="0" marL="0">
                        <a:buNone/>
                      </a:pPr>
                      <a:r>
                        <a:rPr lang="en-US" sz="1300" dirty="0">
                          <a:solidFill>
                            <a:srgbClr val="1A1D2E"/>
                          </a:solidFill>
                          <a:latin typeface="Calibri" pitchFamily="34" charset="0"/>
                          <a:ea typeface="Calibri" pitchFamily="34" charset="-122"/>
                          <a:cs typeface="Calibri" pitchFamily="34" charset="-120"/>
                        </a:rPr>
                        <a:t>Fixed-size</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A1D2E"/>
                          </a:solidFill>
                          <a:latin typeface="Calibri" pitchFamily="34" charset="0"/>
                          <a:ea typeface="Calibri" pitchFamily="34" charset="-122"/>
                          <a:cs typeface="Calibri" pitchFamily="34" charset="-120"/>
                        </a:rPr>
                        <a:t>898</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A1D2E"/>
                          </a:solidFill>
                          <a:latin typeface="Calibri" pitchFamily="34" charset="0"/>
                          <a:ea typeface="Calibri" pitchFamily="34" charset="-122"/>
                          <a:cs typeface="Calibri" pitchFamily="34" charset="-120"/>
                        </a:rPr>
                        <a:t>790.5</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300" dirty="0">
                          <a:solidFill>
                            <a:srgbClr val="1A1D2E"/>
                          </a:solidFill>
                          <a:latin typeface="Calibri" pitchFamily="34" charset="0"/>
                          <a:ea typeface="Calibri" pitchFamily="34" charset="-122"/>
                          <a:cs typeface="Calibri" pitchFamily="34" charset="-120"/>
                        </a:rPr>
                        <a:t>Cuts mid-sentence, no boundary awareness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48640">
                <a:tc>
                  <a:txBody>
                    <a:bodyPr/>
                    <a:lstStyle/>
                    <a:p>
                      <a:pPr algn="l" indent="0" marL="0">
                        <a:buNone/>
                      </a:pPr>
                      <a:r>
                        <a:rPr lang="en-US" sz="1300" dirty="0">
                          <a:solidFill>
                            <a:srgbClr val="1A1D2E"/>
                          </a:solidFill>
                          <a:latin typeface="Calibri" pitchFamily="34" charset="0"/>
                          <a:ea typeface="Calibri" pitchFamily="34" charset="-122"/>
                          <a:cs typeface="Calibri" pitchFamily="34" charset="-120"/>
                        </a:rPr>
                        <a:t>Recursive splitter</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7F0E9"/>
                    </a:solidFill>
                  </a:tcPr>
                </a:tc>
                <a:tc>
                  <a:txBody>
                    <a:bodyPr/>
                    <a:lstStyle/>
                    <a:p>
                      <a:pPr algn="ctr" indent="0" marL="0">
                        <a:buNone/>
                      </a:pPr>
                      <a:r>
                        <a:rPr lang="en-US" sz="1300" dirty="0">
                          <a:solidFill>
                            <a:srgbClr val="1A1D2E"/>
                          </a:solidFill>
                          <a:latin typeface="Calibri" pitchFamily="34" charset="0"/>
                          <a:ea typeface="Calibri" pitchFamily="34" charset="-122"/>
                          <a:cs typeface="Calibri" pitchFamily="34" charset="-120"/>
                        </a:rPr>
                        <a:t>1,021</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7F0E9"/>
                    </a:solidFill>
                  </a:tcPr>
                </a:tc>
                <a:tc>
                  <a:txBody>
                    <a:bodyPr/>
                    <a:lstStyle/>
                    <a:p>
                      <a:pPr algn="ctr" indent="0" marL="0">
                        <a:buNone/>
                      </a:pPr>
                      <a:r>
                        <a:rPr lang="en-US" sz="1300" dirty="0">
                          <a:solidFill>
                            <a:srgbClr val="1A1D2E"/>
                          </a:solidFill>
                          <a:latin typeface="Calibri" pitchFamily="34" charset="0"/>
                          <a:ea typeface="Calibri" pitchFamily="34" charset="-122"/>
                          <a:cs typeface="Calibri" pitchFamily="34" charset="-120"/>
                        </a:rPr>
                        <a:t>780.1</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7F0E9"/>
                    </a:solidFill>
                  </a:tcPr>
                </a:tc>
                <a:tc>
                  <a:txBody>
                    <a:bodyPr/>
                    <a:lstStyle/>
                    <a:p>
                      <a:pPr algn="l" indent="0" marL="0">
                        <a:buNone/>
                      </a:pPr>
                      <a:r>
                        <a:rPr lang="en-US" sz="1300" dirty="0">
                          <a:solidFill>
                            <a:srgbClr val="1A1D2E"/>
                          </a:solidFill>
                          <a:latin typeface="Calibri" pitchFamily="34" charset="0"/>
                          <a:ea typeface="Calibri" pitchFamily="34" charset="-122"/>
                          <a:cs typeface="Calibri" pitchFamily="34" charset="-120"/>
                        </a:rPr>
                        <a:t>Clean boundaries, predictable size — chosen</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7F0E9"/>
                    </a:solidFill>
                  </a:tcPr>
                </a:tc>
              </a:tr>
              <a:tr h="548640">
                <a:tc>
                  <a:txBody>
                    <a:bodyPr/>
                    <a:lstStyle/>
                    <a:p>
                      <a:pPr algn="l" indent="0" marL="0">
                        <a:buNone/>
                      </a:pPr>
                      <a:r>
                        <a:rPr lang="en-US" sz="1300" dirty="0">
                          <a:solidFill>
                            <a:srgbClr val="1A1D2E"/>
                          </a:solidFill>
                          <a:latin typeface="Calibri" pitchFamily="34" charset="0"/>
                          <a:ea typeface="Calibri" pitchFamily="34" charset="-122"/>
                          <a:cs typeface="Calibri" pitchFamily="34" charset="-120"/>
                        </a:rPr>
                        <a:t>Semantic (embedding-based)</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A1D2E"/>
                          </a:solidFill>
                          <a:latin typeface="Calibri" pitchFamily="34" charset="0"/>
                          <a:ea typeface="Calibri" pitchFamily="34" charset="-122"/>
                          <a:cs typeface="Calibri" pitchFamily="34" charset="-120"/>
                        </a:rPr>
                        <a:t>576</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A1D2E"/>
                          </a:solidFill>
                          <a:latin typeface="Calibri" pitchFamily="34" charset="0"/>
                          <a:ea typeface="Calibri" pitchFamily="34" charset="-122"/>
                          <a:cs typeface="Calibri" pitchFamily="34" charset="-120"/>
                        </a:rPr>
                        <a:t>1,232.2</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300" dirty="0">
                          <a:solidFill>
                            <a:srgbClr val="1A1D2E"/>
                          </a:solidFill>
                          <a:latin typeface="Calibri" pitchFamily="34" charset="0"/>
                          <a:ea typeface="Calibri" pitchFamily="34" charset="-122"/>
                          <a:cs typeface="Calibri" pitchFamily="34" charset="-120"/>
                        </a:rPr>
                        <a:t>Coherent but highly variable size, slowest</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Shape 2"/>
          <p:cNvSpPr/>
          <p:nvPr/>
        </p:nvSpPr>
        <p:spPr>
          <a:xfrm>
            <a:off x="548640" y="4297680"/>
            <a:ext cx="11064240" cy="1737360"/>
          </a:xfrm>
          <a:prstGeom prst="roundRect">
            <a:avLst>
              <a:gd name="adj" fmla="val 4211"/>
            </a:avLst>
          </a:prstGeom>
          <a:solidFill>
            <a:srgbClr val="F4F6FC"/>
          </a:solidFill>
          <a:ln/>
        </p:spPr>
      </p:sp>
      <p:sp>
        <p:nvSpPr>
          <p:cNvPr id="6" name="Text 3"/>
          <p:cNvSpPr txBox="1"/>
          <p:nvPr/>
        </p:nvSpPr>
        <p:spPr>
          <a:xfrm>
            <a:off x="822960" y="4526280"/>
            <a:ext cx="10515600" cy="1371600"/>
          </a:xfrm>
          <a:prstGeom prst="rect">
            <a:avLst/>
          </a:prstGeom>
          <a:noFill/>
          <a:ln/>
        </p:spPr>
        <p:txBody>
          <a:bodyPr wrap="square" lIns="0" tIns="0" rIns="0" bIns="0" rtlCol="0" anchor="ctr"/>
          <a:lstStyle/>
          <a:p>
            <a:pPr indent="0" marL="0">
              <a:lnSpc>
                <a:spcPct val="125000"/>
              </a:lnSpc>
              <a:buNone/>
            </a:pPr>
            <a:r>
              <a:rPr lang="en-US" sz="1400" b="1" dirty="0">
                <a:solidFill>
                  <a:srgbClr val="1E2761"/>
                </a:solidFill>
                <a:latin typeface="Calibri" pitchFamily="34" charset="0"/>
                <a:ea typeface="Calibri" pitchFamily="34" charset="-122"/>
                <a:cs typeface="Calibri" pitchFamily="34" charset="-120"/>
              </a:rPr>
              <a:t>Why recursive splitting won: </a:t>
            </a:r>
            <a:pPr indent="0" marL="0">
              <a:lnSpc>
                <a:spcPct val="125000"/>
              </a:lnSpc>
              <a:buNone/>
            </a:pPr>
            <a:r>
              <a:rPr lang="en-US" sz="1300" dirty="0">
                <a:solidFill>
                  <a:srgbClr val="1A1D2E"/>
                </a:solidFill>
                <a:latin typeface="Calibri" pitchFamily="34" charset="0"/>
                <a:ea typeface="Calibri" pitchFamily="34" charset="-122"/>
                <a:cs typeface="Calibri" pitchFamily="34" charset="-120"/>
              </a:rPr>
              <a:t>it respects paragraph/sentence boundaries so chunks read cleanly, produces a predictable chunk-size distribution (important for comparable retrieval scores), and is far cheaper to compute than the semantic approach, which must embed every sentence up front.</a:t>
            </a:r>
            <a:endParaRPr lang="en-US" sz="1400" dirty="0"/>
          </a:p>
        </p:txBody>
      </p:sp>
      <p:sp>
        <p:nvSpPr>
          <p:cNvPr id="7" name="Text 4"/>
          <p:cNvSpPr txBox="1"/>
          <p:nvPr/>
        </p:nvSpPr>
        <p:spPr>
          <a:xfrm>
            <a:off x="11365992" y="6355080"/>
            <a:ext cx="457200" cy="320040"/>
          </a:xfrm>
          <a:prstGeom prst="rect">
            <a:avLst/>
          </a:prstGeom>
          <a:noFill/>
          <a:ln/>
        </p:spPr>
        <p:txBody>
          <a:bodyPr wrap="square" rtlCol="0" anchor="ctr"/>
          <a:lstStyle/>
          <a:p>
            <a:pPr algn="r" indent="0" marL="0">
              <a:buNone/>
            </a:pPr>
            <a:r>
              <a:rPr lang="en-US" sz="1100" dirty="0">
                <a:solidFill>
                  <a:srgbClr val="5B6485"/>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rtlCol="0" anchor="ctr"/>
          <a:lstStyle/>
          <a:p>
            <a:pPr indent="0" marL="0">
              <a:buNone/>
            </a:pPr>
            <a:r>
              <a:rPr lang="en-US" sz="1200" b="1" spc="200" kern="0" dirty="0">
                <a:solidFill>
                  <a:srgbClr val="5B6485"/>
                </a:solidFill>
                <a:latin typeface="Calibri" pitchFamily="34" charset="0"/>
                <a:ea typeface="Calibri" pitchFamily="34" charset="-122"/>
                <a:cs typeface="Calibri" pitchFamily="34" charset="-120"/>
              </a:rPr>
              <a:t>EMBEDDINGS</a:t>
            </a:r>
            <a:endParaRPr lang="en-US" sz="1200" dirty="0"/>
          </a:p>
        </p:txBody>
      </p:sp>
      <p:sp>
        <p:nvSpPr>
          <p:cNvPr id="3" name="Text 1"/>
          <p:cNvSpPr txBox="1"/>
          <p:nvPr/>
        </p:nvSpPr>
        <p:spPr>
          <a:xfrm>
            <a:off x="548640" y="713232"/>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Open-source vs. commercial, compared head-to-head</a:t>
            </a:r>
            <a:endParaRPr lang="en-US" sz="3000" dirty="0"/>
          </a:p>
        </p:txBody>
      </p:sp>
      <p:sp>
        <p:nvSpPr>
          <p:cNvPr id="4" name="Shape 2"/>
          <p:cNvSpPr/>
          <p:nvPr/>
        </p:nvSpPr>
        <p:spPr>
          <a:xfrm>
            <a:off x="548640" y="1737360"/>
            <a:ext cx="5120640" cy="3566160"/>
          </a:xfrm>
          <a:prstGeom prst="roundRect">
            <a:avLst>
              <a:gd name="adj" fmla="val 2564"/>
            </a:avLst>
          </a:prstGeom>
          <a:solidFill>
            <a:srgbClr val="F4F6FC"/>
          </a:solidFill>
          <a:ln/>
        </p:spPr>
      </p:sp>
      <p:sp>
        <p:nvSpPr>
          <p:cNvPr id="5" name="Text 3"/>
          <p:cNvSpPr txBox="1"/>
          <p:nvPr/>
        </p:nvSpPr>
        <p:spPr>
          <a:xfrm>
            <a:off x="822960" y="1965960"/>
            <a:ext cx="4572000" cy="274320"/>
          </a:xfrm>
          <a:prstGeom prst="rect">
            <a:avLst/>
          </a:prstGeom>
          <a:noFill/>
          <a:ln/>
        </p:spPr>
        <p:txBody>
          <a:bodyPr wrap="square" rtlCol="0" anchor="ctr"/>
          <a:lstStyle/>
          <a:p>
            <a:pPr indent="0" marL="0">
              <a:buNone/>
            </a:pPr>
            <a:r>
              <a:rPr lang="en-US" sz="1100" b="1" spc="100" kern="0" dirty="0">
                <a:solidFill>
                  <a:srgbClr val="5B6485"/>
                </a:solidFill>
                <a:latin typeface="Calibri" pitchFamily="34" charset="0"/>
                <a:ea typeface="Calibri" pitchFamily="34" charset="-122"/>
                <a:cs typeface="Calibri" pitchFamily="34" charset="-120"/>
              </a:rPr>
              <a:t>OPEN-SOURCE</a:t>
            </a:r>
            <a:endParaRPr lang="en-US" sz="1100" dirty="0"/>
          </a:p>
        </p:txBody>
      </p:sp>
      <p:sp>
        <p:nvSpPr>
          <p:cNvPr id="6" name="Text 4"/>
          <p:cNvSpPr txBox="1"/>
          <p:nvPr/>
        </p:nvSpPr>
        <p:spPr>
          <a:xfrm>
            <a:off x="822960" y="2240280"/>
            <a:ext cx="4572000" cy="41148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BAAI/bge-small-en-v1.5</a:t>
            </a:r>
            <a:endParaRPr lang="en-US" sz="2000" dirty="0"/>
          </a:p>
        </p:txBody>
      </p:sp>
      <p:sp>
        <p:nvSpPr>
          <p:cNvPr id="7" name="Text 5"/>
          <p:cNvSpPr txBox="1"/>
          <p:nvPr/>
        </p:nvSpPr>
        <p:spPr>
          <a:xfrm>
            <a:off x="822960" y="2788920"/>
            <a:ext cx="4572000" cy="2011680"/>
          </a:xfrm>
          <a:prstGeom prst="rect">
            <a:avLst/>
          </a:prstGeom>
          <a:noFill/>
          <a:ln/>
        </p:spPr>
        <p:txBody>
          <a:bodyPr wrap="square" lIns="0" tIns="0" rIns="0" bIns="0" rtlCol="0" anchor="ctr"/>
          <a:lstStyle/>
          <a:p>
            <a:pPr indent="0" marL="0">
              <a:lnSpc>
                <a:spcPct val="135000"/>
              </a:lnSpc>
              <a:buNone/>
            </a:pPr>
            <a:r>
              <a:rPr lang="en-US" sz="1350" dirty="0">
                <a:solidFill>
                  <a:srgbClr val="1A1D2E"/>
                </a:solidFill>
                <a:latin typeface="Calibri" pitchFamily="34" charset="0"/>
                <a:ea typeface="Calibri" pitchFamily="34" charset="-122"/>
                <a:cs typeface="Calibri" pitchFamily="34" charset="-120"/>
              </a:rPr>
              <a:t>• Runs 100% locally on CPU, zero API cost
</a:t>
            </a:r>
            <a:endParaRPr lang="en-US" sz="1350" dirty="0"/>
          </a:p>
          <a:p>
            <a:pPr indent="0" marL="0">
              <a:lnSpc>
                <a:spcPct val="135000"/>
              </a:lnSpc>
              <a:buNone/>
            </a:pPr>
            <a:r>
              <a:rPr lang="en-US" sz="1350" dirty="0">
                <a:solidFill>
                  <a:srgbClr val="1A1D2E"/>
                </a:solidFill>
                <a:latin typeface="Calibri" pitchFamily="34" charset="0"/>
                <a:ea typeface="Calibri" pitchFamily="34" charset="-122"/>
                <a:cs typeface="Calibri" pitchFamily="34" charset="-120"/>
              </a:rPr>
              <a:t>• Indexed full corpus: 1,021 chunks
</a:t>
            </a:r>
            <a:endParaRPr lang="en-US" sz="1350" dirty="0"/>
          </a:p>
          <a:p>
            <a:pPr indent="0" marL="0">
              <a:lnSpc>
                <a:spcPct val="135000"/>
              </a:lnSpc>
              <a:buNone/>
            </a:pPr>
            <a:r>
              <a:rPr lang="en-US" sz="1350" dirty="0">
                <a:solidFill>
                  <a:srgbClr val="1A1D2E"/>
                </a:solidFill>
                <a:latin typeface="Calibri" pitchFamily="34" charset="0"/>
                <a:ea typeface="Calibri" pitchFamily="34" charset="-122"/>
                <a:cs typeface="Calibri" pitchFamily="34" charset="-120"/>
              </a:rPr>
              <a:t>• Time to embed full corpus: ~150-430s
</a:t>
            </a:r>
            <a:endParaRPr lang="en-US" sz="1350" dirty="0"/>
          </a:p>
          <a:p>
            <a:pPr indent="0" marL="0">
              <a:lnSpc>
                <a:spcPct val="135000"/>
              </a:lnSpc>
              <a:buNone/>
            </a:pPr>
            <a:r>
              <a:rPr lang="en-US" sz="1350" dirty="0">
                <a:solidFill>
                  <a:srgbClr val="1A1D2E"/>
                </a:solidFill>
                <a:latin typeface="Calibri" pitchFamily="34" charset="0"/>
                <a:ea typeface="Calibri" pitchFamily="34" charset="-122"/>
                <a:cs typeface="Calibri" pitchFamily="34" charset="-120"/>
              </a:rPr>
              <a:t>• Used as the app's production index</a:t>
            </a:r>
            <a:endParaRPr lang="en-US" sz="1350" dirty="0"/>
          </a:p>
        </p:txBody>
      </p:sp>
      <p:sp>
        <p:nvSpPr>
          <p:cNvPr id="8" name="Shape 6"/>
          <p:cNvSpPr/>
          <p:nvPr/>
        </p:nvSpPr>
        <p:spPr>
          <a:xfrm>
            <a:off x="5943600" y="1737360"/>
            <a:ext cx="5120640" cy="3566160"/>
          </a:xfrm>
          <a:prstGeom prst="roundRect">
            <a:avLst>
              <a:gd name="adj" fmla="val 2564"/>
            </a:avLst>
          </a:prstGeom>
          <a:solidFill>
            <a:srgbClr val="1E2761"/>
          </a:solidFill>
          <a:ln/>
        </p:spPr>
      </p:sp>
      <p:sp>
        <p:nvSpPr>
          <p:cNvPr id="9" name="Text 7"/>
          <p:cNvSpPr txBox="1"/>
          <p:nvPr/>
        </p:nvSpPr>
        <p:spPr>
          <a:xfrm>
            <a:off x="6217920" y="1965960"/>
            <a:ext cx="4572000" cy="274320"/>
          </a:xfrm>
          <a:prstGeom prst="rect">
            <a:avLst/>
          </a:prstGeom>
          <a:noFill/>
          <a:ln/>
        </p:spPr>
        <p:txBody>
          <a:bodyPr wrap="square" rtlCol="0" anchor="ctr"/>
          <a:lstStyle/>
          <a:p>
            <a:pPr indent="0" marL="0">
              <a:buNone/>
            </a:pPr>
            <a:r>
              <a:rPr lang="en-US" sz="1100" b="1" spc="100" kern="0" dirty="0">
                <a:solidFill>
                  <a:srgbClr val="CADCFC"/>
                </a:solidFill>
                <a:latin typeface="Calibri" pitchFamily="34" charset="0"/>
                <a:ea typeface="Calibri" pitchFamily="34" charset="-122"/>
                <a:cs typeface="Calibri" pitchFamily="34" charset="-120"/>
              </a:rPr>
              <a:t>COMMERCIAL</a:t>
            </a:r>
            <a:endParaRPr lang="en-US" sz="1100" dirty="0"/>
          </a:p>
        </p:txBody>
      </p:sp>
      <p:sp>
        <p:nvSpPr>
          <p:cNvPr id="10" name="Text 8"/>
          <p:cNvSpPr txBox="1"/>
          <p:nvPr/>
        </p:nvSpPr>
        <p:spPr>
          <a:xfrm>
            <a:off x="6217920" y="2240280"/>
            <a:ext cx="4572000" cy="41148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Gemini gemini-embedding-001</a:t>
            </a:r>
            <a:endParaRPr lang="en-US" sz="2000" dirty="0"/>
          </a:p>
        </p:txBody>
      </p:sp>
      <p:sp>
        <p:nvSpPr>
          <p:cNvPr id="11" name="Text 9"/>
          <p:cNvSpPr txBox="1"/>
          <p:nvPr/>
        </p:nvSpPr>
        <p:spPr>
          <a:xfrm>
            <a:off x="6217920" y="2788920"/>
            <a:ext cx="4572000" cy="2377440"/>
          </a:xfrm>
          <a:prstGeom prst="rect">
            <a:avLst/>
          </a:prstGeom>
          <a:noFill/>
          <a:ln/>
        </p:spPr>
        <p:txBody>
          <a:bodyPr wrap="square" lIns="0" tIns="0" rIns="0" bIns="0" rtlCol="0" anchor="ctr"/>
          <a:lstStyle/>
          <a:p>
            <a:pPr indent="0" marL="0">
              <a:lnSpc>
                <a:spcPct val="130000"/>
              </a:lnSpc>
              <a:buNone/>
            </a:pPr>
            <a:r>
              <a:rPr lang="en-US" sz="1350" dirty="0">
                <a:solidFill>
                  <a:srgbClr val="CADCFC"/>
                </a:solidFill>
                <a:latin typeface="Calibri" pitchFamily="34" charset="0"/>
                <a:ea typeface="Calibri" pitchFamily="34" charset="-122"/>
                <a:cs typeface="Calibri" pitchFamily="34" charset="-120"/>
              </a:rPr>
              <a:t>• 3072-dim vectors, hosted API
</a:t>
            </a:r>
            <a:endParaRPr lang="en-US" sz="1350" dirty="0"/>
          </a:p>
          <a:p>
            <a:pPr indent="0" marL="0">
              <a:lnSpc>
                <a:spcPct val="130000"/>
              </a:lnSpc>
              <a:buNone/>
            </a:pPr>
            <a:r>
              <a:rPr lang="en-US" sz="1350" dirty="0">
                <a:solidFill>
                  <a:srgbClr val="CADCFC"/>
                </a:solidFill>
                <a:latin typeface="Calibri" pitchFamily="34" charset="0"/>
                <a:ea typeface="Calibri" pitchFamily="34" charset="-122"/>
                <a:cs typeface="Calibri" pitchFamily="34" charset="-120"/>
              </a:rPr>
              <a:t>• Indexed a representative sample: 60 chunks (10/paper)
</a:t>
            </a:r>
            <a:endParaRPr lang="en-US" sz="1350" dirty="0"/>
          </a:p>
          <a:p>
            <a:pPr indent="0" marL="0">
              <a:lnSpc>
                <a:spcPct val="130000"/>
              </a:lnSpc>
              <a:buNone/>
            </a:pPr>
            <a:r>
              <a:rPr lang="en-US" sz="1350" dirty="0">
                <a:solidFill>
                  <a:srgbClr val="CADCFC"/>
                </a:solidFill>
                <a:latin typeface="Calibri" pitchFamily="34" charset="0"/>
                <a:ea typeface="Calibri" pitchFamily="34" charset="-122"/>
                <a:cs typeface="Calibri" pitchFamily="34" charset="-120"/>
              </a:rPr>
              <a:t>• Time to embed sample: ~4-11s
</a:t>
            </a:r>
            <a:endParaRPr lang="en-US" sz="1350" dirty="0"/>
          </a:p>
          <a:p>
            <a:pPr indent="0" marL="0">
              <a:lnSpc>
                <a:spcPct val="130000"/>
              </a:lnSpc>
              <a:buNone/>
            </a:pPr>
            <a:r>
              <a:rPr lang="en-US" sz="1350" dirty="0">
                <a:solidFill>
                  <a:srgbClr val="CADCFC"/>
                </a:solidFill>
                <a:latin typeface="Calibri" pitchFamily="34" charset="0"/>
                <a:ea typeface="Calibri" pitchFamily="34" charset="-122"/>
                <a:cs typeface="Calibri" pitchFamily="34" charset="-120"/>
              </a:rPr>
              <a:t>• Sampled deliberately — embedding the full 1,021-chunk corpus through a paid API for a comparison exercise isn't worth the cost/quota</a:t>
            </a:r>
            <a:endParaRPr lang="en-US" sz="1350" dirty="0"/>
          </a:p>
        </p:txBody>
      </p:sp>
      <p:sp>
        <p:nvSpPr>
          <p:cNvPr id="12" name="Text 10"/>
          <p:cNvSpPr txBox="1"/>
          <p:nvPr/>
        </p:nvSpPr>
        <p:spPr>
          <a:xfrm>
            <a:off x="11365992" y="6355080"/>
            <a:ext cx="457200" cy="320040"/>
          </a:xfrm>
          <a:prstGeom prst="rect">
            <a:avLst/>
          </a:prstGeom>
          <a:noFill/>
          <a:ln/>
        </p:spPr>
        <p:txBody>
          <a:bodyPr wrap="square" rtlCol="0" anchor="ctr"/>
          <a:lstStyle/>
          <a:p>
            <a:pPr algn="r" indent="0" marL="0">
              <a:buNone/>
            </a:pPr>
            <a:r>
              <a:rPr lang="en-US" sz="1100" dirty="0">
                <a:solidFill>
                  <a:srgbClr val="5B6485"/>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rtlCol="0" anchor="ctr"/>
          <a:lstStyle/>
          <a:p>
            <a:pPr indent="0" marL="0">
              <a:buNone/>
            </a:pPr>
            <a:r>
              <a:rPr lang="en-US" sz="1200" b="1" spc="200" kern="0" dirty="0">
                <a:solidFill>
                  <a:srgbClr val="5B6485"/>
                </a:solidFill>
                <a:latin typeface="Calibri" pitchFamily="34" charset="0"/>
                <a:ea typeface="Calibri" pitchFamily="34" charset="-122"/>
                <a:cs typeface="Calibri" pitchFamily="34" charset="-120"/>
              </a:rPr>
              <a:t>VECTOR DB &amp; RETRIEVAL</a:t>
            </a:r>
            <a:endParaRPr lang="en-US" sz="1200" dirty="0"/>
          </a:p>
        </p:txBody>
      </p:sp>
      <p:sp>
        <p:nvSpPr>
          <p:cNvPr id="3" name="Text 1"/>
          <p:cNvSpPr txBox="1"/>
          <p:nvPr/>
        </p:nvSpPr>
        <p:spPr>
          <a:xfrm>
            <a:off x="548640" y="713232"/>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FAISS + BM25, four retrieval strategies compared</a:t>
            </a:r>
            <a:endParaRPr lang="en-US" sz="3000" dirty="0"/>
          </a:p>
        </p:txBody>
      </p:sp>
      <p:sp>
        <p:nvSpPr>
          <p:cNvPr id="4" name="Text 2"/>
          <p:cNvSpPr txBox="1"/>
          <p:nvPr/>
        </p:nvSpPr>
        <p:spPr>
          <a:xfrm>
            <a:off x="548640" y="1691640"/>
            <a:ext cx="11064240" cy="502920"/>
          </a:xfrm>
          <a:prstGeom prst="rect">
            <a:avLst/>
          </a:prstGeom>
          <a:noFill/>
          <a:ln/>
        </p:spPr>
        <p:txBody>
          <a:bodyPr wrap="square" lIns="0" tIns="0" rIns="0" bIns="0" rtlCol="0" anchor="ctr"/>
          <a:lstStyle/>
          <a:p>
            <a:pPr indent="0" marL="0">
              <a:lnSpc>
                <a:spcPct val="120000"/>
              </a:lnSpc>
              <a:buNone/>
            </a:pPr>
            <a:r>
              <a:rPr lang="en-US" sz="1350" b="1" dirty="0">
                <a:solidFill>
                  <a:srgbClr val="1E2761"/>
                </a:solidFill>
                <a:latin typeface="Calibri" pitchFamily="34" charset="0"/>
                <a:ea typeface="Calibri" pitchFamily="34" charset="-122"/>
                <a:cs typeface="Calibri" pitchFamily="34" charset="-120"/>
              </a:rPr>
              <a:t>Vector database: </a:t>
            </a:r>
            <a:pPr indent="0" marL="0">
              <a:lnSpc>
                <a:spcPct val="120000"/>
              </a:lnSpc>
              <a:buNone/>
            </a:pPr>
            <a:r>
              <a:rPr lang="en-US" sz="1350" dirty="0">
                <a:solidFill>
                  <a:srgbClr val="1A1D2E"/>
                </a:solidFill>
                <a:latin typeface="Calibri" pitchFamily="34" charset="0"/>
                <a:ea typeface="Calibri" pitchFamily="34" charset="-122"/>
                <a:cs typeface="Calibri" pitchFamily="34" charset="-120"/>
              </a:rPr>
              <a:t>FAISS (local, in-memory) — zero setup, fast nearest-neighbour search, right-sized for a single-digit-GB corpus like this one.</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64240" cy="2743200"/>
        </p:xfrm>
        <a:graphic>
          <a:graphicData uri="http://schemas.openxmlformats.org/drawingml/2006/table">
            <a:tbl>
              <a:tblPr/>
              <a:tblGrid>
                <a:gridCol w="2743200"/>
                <a:gridCol w="3200400"/>
                <a:gridCol w="5120640"/>
              </a:tblGrid>
              <a:tr h="54864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Strategy</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How it works</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Example: “low-rank matrices” query</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E2761"/>
                    </a:solidFill>
                  </a:tcPr>
                </a:tc>
              </a:tr>
              <a:tr h="548640">
                <a:tc>
                  <a:txBody>
                    <a:bodyPr/>
                    <a:lstStyle/>
                    <a:p>
                      <a:pPr algn="l" indent="0" marL="0">
                        <a:buNone/>
                      </a:pPr>
                      <a:r>
                        <a:rPr lang="en-US" sz="1250" dirty="0">
                          <a:solidFill>
                            <a:srgbClr val="1A1D2E"/>
                          </a:solidFill>
                          <a:latin typeface="Calibri" pitchFamily="34" charset="0"/>
                          <a:ea typeface="Calibri" pitchFamily="34" charset="-122"/>
                          <a:cs typeface="Calibri" pitchFamily="34" charset="-120"/>
                        </a:rPr>
                        <a:t>Dense (cosine)</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250" dirty="0">
                          <a:solidFill>
                            <a:srgbClr val="1A1D2E"/>
                          </a:solidFill>
                          <a:latin typeface="Calibri" pitchFamily="34" charset="0"/>
                          <a:ea typeface="Calibri" pitchFamily="34" charset="-122"/>
                          <a:cs typeface="Calibri" pitchFamily="34" charset="-120"/>
                        </a:rPr>
                        <a:t>Baseline vector similarity</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250" dirty="0">
                          <a:solidFill>
                            <a:srgbClr val="1A1D2E"/>
                          </a:solidFill>
                          <a:latin typeface="Calibri" pitchFamily="34" charset="0"/>
                          <a:ea typeface="Calibri" pitchFamily="34" charset="-122"/>
                          <a:cs typeface="Calibri" pitchFamily="34" charset="-120"/>
                        </a:rPr>
                        <a:t>Top hit: LoRA p9, score 0.75</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48640">
                <a:tc>
                  <a:txBody>
                    <a:bodyPr/>
                    <a:lstStyle/>
                    <a:p>
                      <a:pPr algn="l" indent="0" marL="0">
                        <a:buNone/>
                      </a:pPr>
                      <a:r>
                        <a:rPr lang="en-US" sz="1250" dirty="0">
                          <a:solidFill>
                            <a:srgbClr val="1A1D2E"/>
                          </a:solidFill>
                          <a:latin typeface="Calibri" pitchFamily="34" charset="0"/>
                          <a:ea typeface="Calibri" pitchFamily="34" charset="-122"/>
                          <a:cs typeface="Calibri" pitchFamily="34" charset="-120"/>
                        </a:rPr>
                        <a:t>MMR</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4F6FC"/>
                    </a:solidFill>
                  </a:tcPr>
                </a:tc>
                <a:tc>
                  <a:txBody>
                    <a:bodyPr/>
                    <a:lstStyle/>
                    <a:p>
                      <a:pPr algn="l" indent="0" marL="0">
                        <a:buNone/>
                      </a:pPr>
                      <a:r>
                        <a:rPr lang="en-US" sz="1250" dirty="0">
                          <a:solidFill>
                            <a:srgbClr val="1A1D2E"/>
                          </a:solidFill>
                          <a:latin typeface="Calibri" pitchFamily="34" charset="0"/>
                          <a:ea typeface="Calibri" pitchFamily="34" charset="-122"/>
                          <a:cs typeface="Calibri" pitchFamily="34" charset="-120"/>
                        </a:rPr>
                        <a:t>Relevance + diversity</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4F6FC"/>
                    </a:solidFill>
                  </a:tcPr>
                </a:tc>
                <a:tc>
                  <a:txBody>
                    <a:bodyPr/>
                    <a:lstStyle/>
                    <a:p>
                      <a:pPr algn="l" indent="0" marL="0">
                        <a:buNone/>
                      </a:pPr>
                      <a:r>
                        <a:rPr lang="en-US" sz="1250" dirty="0">
                          <a:solidFill>
                            <a:srgbClr val="1A1D2E"/>
                          </a:solidFill>
                          <a:latin typeface="Calibri" pitchFamily="34" charset="0"/>
                          <a:ea typeface="Calibri" pitchFamily="34" charset="-122"/>
                          <a:cs typeface="Calibri" pitchFamily="34" charset="-120"/>
                        </a:rPr>
                        <a:t>Top hit: LoRA p9, score 1.0</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4F6FC"/>
                    </a:solidFill>
                  </a:tcPr>
                </a:tc>
              </a:tr>
              <a:tr h="548640">
                <a:tc>
                  <a:txBody>
                    <a:bodyPr/>
                    <a:lstStyle/>
                    <a:p>
                      <a:pPr algn="l" indent="0" marL="0">
                        <a:buNone/>
                      </a:pPr>
                      <a:r>
                        <a:rPr lang="en-US" sz="1250" dirty="0">
                          <a:solidFill>
                            <a:srgbClr val="1A1D2E"/>
                          </a:solidFill>
                          <a:latin typeface="Calibri" pitchFamily="34" charset="0"/>
                          <a:ea typeface="Calibri" pitchFamily="34" charset="-122"/>
                          <a:cs typeface="Calibri" pitchFamily="34" charset="-120"/>
                        </a:rPr>
                        <a:t>Hybrid (BM25 + dense, RRF)</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250" dirty="0">
                          <a:solidFill>
                            <a:srgbClr val="1A1D2E"/>
                          </a:solidFill>
                          <a:latin typeface="Calibri" pitchFamily="34" charset="0"/>
                          <a:ea typeface="Calibri" pitchFamily="34" charset="-122"/>
                          <a:cs typeface="Calibri" pitchFamily="34" charset="-120"/>
                        </a:rPr>
                        <a:t>Lexical + semantic fusion</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250" dirty="0">
                          <a:solidFill>
                            <a:srgbClr val="1A1D2E"/>
                          </a:solidFill>
                          <a:latin typeface="Calibri" pitchFamily="34" charset="0"/>
                          <a:ea typeface="Calibri" pitchFamily="34" charset="-122"/>
                          <a:cs typeface="Calibri" pitchFamily="34" charset="-120"/>
                        </a:rPr>
                        <a:t>Top hit: LoRA p1, score 0.032</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48640">
                <a:tc>
                  <a:txBody>
                    <a:bodyPr/>
                    <a:lstStyle/>
                    <a:p>
                      <a:pPr algn="l" indent="0" marL="0">
                        <a:buNone/>
                      </a:pPr>
                      <a:r>
                        <a:rPr lang="en-US" sz="1250" dirty="0">
                          <a:solidFill>
                            <a:srgbClr val="1A1D2E"/>
                          </a:solidFill>
                          <a:latin typeface="Calibri" pitchFamily="34" charset="0"/>
                          <a:ea typeface="Calibri" pitchFamily="34" charset="-122"/>
                          <a:cs typeface="Calibri" pitchFamily="34" charset="-120"/>
                        </a:rPr>
                        <a:t>Hybrid + reranker</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7F0E9"/>
                    </a:solidFill>
                  </a:tcPr>
                </a:tc>
                <a:tc>
                  <a:txBody>
                    <a:bodyPr/>
                    <a:lstStyle/>
                    <a:p>
                      <a:pPr algn="l" indent="0" marL="0">
                        <a:buNone/>
                      </a:pPr>
                      <a:r>
                        <a:rPr lang="en-US" sz="1250" dirty="0">
                          <a:solidFill>
                            <a:srgbClr val="1A1D2E"/>
                          </a:solidFill>
                          <a:latin typeface="Calibri" pitchFamily="34" charset="0"/>
                          <a:ea typeface="Calibri" pitchFamily="34" charset="-122"/>
                          <a:cs typeface="Calibri" pitchFamily="34" charset="-120"/>
                        </a:rPr>
                        <a:t>Cross-encoder re-scores candidates</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7F0E9"/>
                    </a:solidFill>
                  </a:tcPr>
                </a:tc>
                <a:tc>
                  <a:txBody>
                    <a:bodyPr/>
                    <a:lstStyle/>
                    <a:p>
                      <a:pPr algn="l" indent="0" marL="0">
                        <a:buNone/>
                      </a:pPr>
                      <a:r>
                        <a:rPr lang="en-US" sz="1250" dirty="0">
                          <a:solidFill>
                            <a:srgbClr val="1A1D2E"/>
                          </a:solidFill>
                          <a:latin typeface="Calibri" pitchFamily="34" charset="0"/>
                          <a:ea typeface="Calibri" pitchFamily="34" charset="-122"/>
                          <a:cs typeface="Calibri" pitchFamily="34" charset="-120"/>
                        </a:rPr>
                        <a:t>Top hit: LoRA p1, score 4.84 — selected</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7F0E9"/>
                    </a:solidFill>
                  </a:tcPr>
                </a:tc>
              </a:tr>
            </a:tbl>
          </a:graphicData>
        </a:graphic>
      </p:graphicFrame>
      <p:sp>
        <p:nvSpPr>
          <p:cNvPr id="6" name="Text 3"/>
          <p:cNvSpPr txBox="1"/>
          <p:nvPr/>
        </p:nvSpPr>
        <p:spPr>
          <a:xfrm>
            <a:off x="548640" y="5257800"/>
            <a:ext cx="11064240" cy="822960"/>
          </a:xfrm>
          <a:prstGeom prst="rect">
            <a:avLst/>
          </a:prstGeom>
          <a:noFill/>
          <a:ln/>
        </p:spPr>
        <p:txBody>
          <a:bodyPr wrap="square" lIns="0" tIns="0" rIns="0" bIns="0" rtlCol="0" anchor="ctr"/>
          <a:lstStyle/>
          <a:p>
            <a:pPr indent="0" marL="0">
              <a:lnSpc>
                <a:spcPct val="120000"/>
              </a:lnSpc>
              <a:buNone/>
            </a:pPr>
            <a:r>
              <a:rPr lang="en-US" sz="1300" i="1" dirty="0">
                <a:solidFill>
                  <a:srgbClr val="5B6485"/>
                </a:solidFill>
                <a:latin typeface="Calibri" pitchFamily="34" charset="0"/>
                <a:ea typeface="Calibri" pitchFamily="34" charset="-122"/>
                <a:cs typeface="Calibri" pitchFamily="34" charset="-120"/>
              </a:rPr>
              <a:t>Selected for the app: Hybrid (BM25 + dense) — best precision/recall trade-off without the reranker's extra latency; reranker kept available as the highest-precision option.</a:t>
            </a:r>
            <a:endParaRPr lang="en-US" sz="1300" dirty="0"/>
          </a:p>
        </p:txBody>
      </p:sp>
      <p:sp>
        <p:nvSpPr>
          <p:cNvPr id="7" name="Text 4"/>
          <p:cNvSpPr txBox="1"/>
          <p:nvPr/>
        </p:nvSpPr>
        <p:spPr>
          <a:xfrm>
            <a:off x="11365992" y="6355080"/>
            <a:ext cx="457200" cy="320040"/>
          </a:xfrm>
          <a:prstGeom prst="rect">
            <a:avLst/>
          </a:prstGeom>
          <a:noFill/>
          <a:ln/>
        </p:spPr>
        <p:txBody>
          <a:bodyPr wrap="square" rtlCol="0" anchor="ctr"/>
          <a:lstStyle/>
          <a:p>
            <a:pPr algn="r" indent="0" marL="0">
              <a:buNone/>
            </a:pPr>
            <a:r>
              <a:rPr lang="en-US" sz="1100" dirty="0">
                <a:solidFill>
                  <a:srgbClr val="5B6485"/>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rtlCol="0" anchor="ctr"/>
          <a:lstStyle/>
          <a:p>
            <a:pPr indent="0" marL="0">
              <a:buNone/>
            </a:pPr>
            <a:r>
              <a:rPr lang="en-US" sz="1200" b="1" spc="200" kern="0" dirty="0">
                <a:solidFill>
                  <a:srgbClr val="5B6485"/>
                </a:solidFill>
                <a:latin typeface="Calibri" pitchFamily="34" charset="0"/>
                <a:ea typeface="Calibri" pitchFamily="34" charset="-122"/>
                <a:cs typeface="Calibri" pitchFamily="34" charset="-120"/>
              </a:rPr>
              <a:t>RAG PIPELINE</a:t>
            </a:r>
            <a:endParaRPr lang="en-US" sz="1200" dirty="0"/>
          </a:p>
        </p:txBody>
      </p:sp>
      <p:sp>
        <p:nvSpPr>
          <p:cNvPr id="3" name="Text 1"/>
          <p:cNvSpPr txBox="1"/>
          <p:nvPr/>
        </p:nvSpPr>
        <p:spPr>
          <a:xfrm>
            <a:off x="548640" y="713232"/>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Prompt design, LLM, and grounded generation</a:t>
            </a:r>
            <a:endParaRPr lang="en-US" sz="3000" dirty="0"/>
          </a:p>
        </p:txBody>
      </p:sp>
      <p:sp>
        <p:nvSpPr>
          <p:cNvPr id="4" name="Shape 2"/>
          <p:cNvSpPr/>
          <p:nvPr/>
        </p:nvSpPr>
        <p:spPr>
          <a:xfrm>
            <a:off x="548640" y="1737360"/>
            <a:ext cx="6309360" cy="4297680"/>
          </a:xfrm>
          <a:prstGeom prst="roundRect">
            <a:avLst>
              <a:gd name="adj" fmla="val 2128"/>
            </a:avLst>
          </a:prstGeom>
          <a:solidFill>
            <a:srgbClr val="F4F6FC"/>
          </a:solidFill>
          <a:ln/>
        </p:spPr>
      </p:sp>
      <p:sp>
        <p:nvSpPr>
          <p:cNvPr id="5" name="Text 3"/>
          <p:cNvSpPr txBox="1"/>
          <p:nvPr/>
        </p:nvSpPr>
        <p:spPr>
          <a:xfrm>
            <a:off x="822960" y="1920240"/>
            <a:ext cx="5760720" cy="274320"/>
          </a:xfrm>
          <a:prstGeom prst="rect">
            <a:avLst/>
          </a:prstGeom>
          <a:noFill/>
          <a:ln/>
        </p:spPr>
        <p:txBody>
          <a:bodyPr wrap="square" rtlCol="0" anchor="ctr"/>
          <a:lstStyle/>
          <a:p>
            <a:pPr indent="0" marL="0">
              <a:buNone/>
            </a:pPr>
            <a:r>
              <a:rPr lang="en-US" sz="1200" b="1" spc="100" kern="0" dirty="0">
                <a:solidFill>
                  <a:srgbClr val="5B6485"/>
                </a:solidFill>
                <a:latin typeface="Calibri" pitchFamily="34" charset="0"/>
                <a:ea typeface="Calibri" pitchFamily="34" charset="-122"/>
                <a:cs typeface="Calibri" pitchFamily="34" charset="-120"/>
              </a:rPr>
              <a:t>PROMPT DESIGN</a:t>
            </a:r>
            <a:endParaRPr lang="en-US" sz="1200" dirty="0"/>
          </a:p>
        </p:txBody>
      </p:sp>
      <p:sp>
        <p:nvSpPr>
          <p:cNvPr id="6" name="Text 4"/>
          <p:cNvSpPr txBox="1"/>
          <p:nvPr/>
        </p:nvSpPr>
        <p:spPr>
          <a:xfrm>
            <a:off x="822960" y="2331720"/>
            <a:ext cx="5760720" cy="3474720"/>
          </a:xfrm>
          <a:prstGeom prst="rect">
            <a:avLst/>
          </a:prstGeom>
          <a:noFill/>
          <a:ln/>
        </p:spPr>
        <p:txBody>
          <a:bodyPr wrap="square" lIns="0" tIns="0" rIns="0" bIns="0" rtlCol="0" anchor="ctr"/>
          <a:lstStyle/>
          <a:p>
            <a:pPr indent="0" marL="0">
              <a:lnSpc>
                <a:spcPct val="120000"/>
              </a:lnSpc>
              <a:buNone/>
            </a:pPr>
            <a:r>
              <a:rPr lang="en-US" sz="1400" b="1" dirty="0">
                <a:solidFill>
                  <a:srgbClr val="1A1D2E"/>
                </a:solidFill>
                <a:latin typeface="Calibri" pitchFamily="34" charset="0"/>
                <a:ea typeface="Calibri" pitchFamily="34" charset="-122"/>
                <a:cs typeface="Calibri" pitchFamily="34" charset="-120"/>
              </a:rPr>
              <a:t>1. Answer ONLY from provided context
</a:t>
            </a:r>
            <a:endParaRPr lang="en-US" sz="1400" dirty="0"/>
          </a:p>
          <a:p>
            <a:pPr indent="0" marL="0">
              <a:lnSpc>
                <a:spcPct val="120000"/>
              </a:lnSpc>
              <a:buNone/>
            </a:pPr>
            <a:r>
              <a:rPr lang="en-US" sz="1200" dirty="0">
                <a:solidFill>
                  <a:srgbClr val="5B6485"/>
                </a:solidFill>
                <a:latin typeface="Calibri" pitchFamily="34" charset="0"/>
                <a:ea typeface="Calibri" pitchFamily="34" charset="-122"/>
                <a:cs typeface="Calibri" pitchFamily="34" charset="-120"/>
              </a:rPr>
              <a:t>   No outside knowledge, ever.
</a:t>
            </a:r>
            <a:endParaRPr lang="en-US" sz="1400" dirty="0"/>
          </a:p>
          <a:p>
            <a:pPr indent="0" marL="0">
              <a:lnSpc>
                <a:spcPct val="120000"/>
              </a:lnSpc>
              <a:buNone/>
            </a:pPr>
            <a:r>
              <a:rPr lang="en-US" sz="1400" b="1" dirty="0">
                <a:solidFill>
                  <a:srgbClr val="1A1D2E"/>
                </a:solidFill>
                <a:latin typeface="Calibri" pitchFamily="34" charset="0"/>
                <a:ea typeface="Calibri" pitchFamily="34" charset="-122"/>
                <a:cs typeface="Calibri" pitchFamily="34" charset="-120"/>
              </a:rPr>
              <a:t>2. Say “I don’t know” when insufficient
</a:t>
            </a:r>
            <a:endParaRPr lang="en-US" sz="1400" dirty="0"/>
          </a:p>
          <a:p>
            <a:pPr indent="0" marL="0">
              <a:lnSpc>
                <a:spcPct val="120000"/>
              </a:lnSpc>
              <a:buNone/>
            </a:pPr>
            <a:r>
              <a:rPr lang="en-US" sz="1200" dirty="0">
                <a:solidFill>
                  <a:srgbClr val="5B6485"/>
                </a:solidFill>
                <a:latin typeface="Calibri" pitchFamily="34" charset="0"/>
                <a:ea typeface="Calibri" pitchFamily="34" charset="-122"/>
                <a:cs typeface="Calibri" pitchFamily="34" charset="-120"/>
              </a:rPr>
              <a:t>   Hard-coded refusal string — makes hallucination-refusal measurable in evaluation.
</a:t>
            </a:r>
            <a:endParaRPr lang="en-US" sz="1400" dirty="0"/>
          </a:p>
          <a:p>
            <a:pPr indent="0" marL="0">
              <a:lnSpc>
                <a:spcPct val="120000"/>
              </a:lnSpc>
              <a:buNone/>
            </a:pPr>
            <a:r>
              <a:rPr lang="en-US" sz="1400" b="1" dirty="0">
                <a:solidFill>
                  <a:srgbClr val="1A1D2E"/>
                </a:solidFill>
                <a:latin typeface="Calibri" pitchFamily="34" charset="0"/>
                <a:ea typeface="Calibri" pitchFamily="34" charset="-122"/>
                <a:cs typeface="Calibri" pitchFamily="34" charset="-120"/>
              </a:rPr>
              <a:t>3. Use conversation history for follow-ups
</a:t>
            </a:r>
            <a:endParaRPr lang="en-US" sz="1400" dirty="0"/>
          </a:p>
          <a:p>
            <a:pPr indent="0" marL="0">
              <a:lnSpc>
                <a:spcPct val="120000"/>
              </a:lnSpc>
              <a:buNone/>
            </a:pPr>
            <a:r>
              <a:rPr lang="en-US" sz="1200" dirty="0">
                <a:solidFill>
                  <a:srgbClr val="5B6485"/>
                </a:solidFill>
                <a:latin typeface="Calibri" pitchFamily="34" charset="0"/>
                <a:ea typeface="Calibri" pitchFamily="34" charset="-122"/>
                <a:cs typeface="Calibri" pitchFamily="34" charset="-120"/>
              </a:rPr>
              <a:t>   But still ground the answer in retrieved passages.</a:t>
            </a:r>
            <a:endParaRPr lang="en-US" sz="1400" dirty="0"/>
          </a:p>
        </p:txBody>
      </p:sp>
      <p:sp>
        <p:nvSpPr>
          <p:cNvPr id="7" name="Shape 5"/>
          <p:cNvSpPr/>
          <p:nvPr/>
        </p:nvSpPr>
        <p:spPr>
          <a:xfrm>
            <a:off x="7132320" y="1737360"/>
            <a:ext cx="4480560" cy="4297680"/>
          </a:xfrm>
          <a:prstGeom prst="roundRect">
            <a:avLst>
              <a:gd name="adj" fmla="val 2128"/>
            </a:avLst>
          </a:prstGeom>
          <a:solidFill>
            <a:srgbClr val="1E2761"/>
          </a:solidFill>
          <a:ln/>
        </p:spPr>
      </p:sp>
      <p:sp>
        <p:nvSpPr>
          <p:cNvPr id="8" name="Text 6"/>
          <p:cNvSpPr txBox="1"/>
          <p:nvPr/>
        </p:nvSpPr>
        <p:spPr>
          <a:xfrm>
            <a:off x="7406640" y="1920240"/>
            <a:ext cx="3931920" cy="274320"/>
          </a:xfrm>
          <a:prstGeom prst="rect">
            <a:avLst/>
          </a:prstGeom>
          <a:noFill/>
          <a:ln/>
        </p:spPr>
        <p:txBody>
          <a:bodyPr wrap="square" rtlCol="0" anchor="ctr"/>
          <a:lstStyle/>
          <a:p>
            <a:pPr indent="0" marL="0">
              <a:buNone/>
            </a:pPr>
            <a:r>
              <a:rPr lang="en-US" sz="1200" b="1" spc="100" kern="0" dirty="0">
                <a:solidFill>
                  <a:srgbClr val="CADCFC"/>
                </a:solidFill>
                <a:latin typeface="Calibri" pitchFamily="34" charset="0"/>
                <a:ea typeface="Calibri" pitchFamily="34" charset="-122"/>
                <a:cs typeface="Calibri" pitchFamily="34" charset="-120"/>
              </a:rPr>
              <a:t>LLM &amp; CITATIONS</a:t>
            </a:r>
            <a:endParaRPr lang="en-US" sz="1200" dirty="0"/>
          </a:p>
        </p:txBody>
      </p:sp>
      <p:sp>
        <p:nvSpPr>
          <p:cNvPr id="9" name="Text 7"/>
          <p:cNvSpPr txBox="1"/>
          <p:nvPr/>
        </p:nvSpPr>
        <p:spPr>
          <a:xfrm>
            <a:off x="7406640" y="2331720"/>
            <a:ext cx="3931920" cy="3474720"/>
          </a:xfrm>
          <a:prstGeom prst="rect">
            <a:avLst/>
          </a:prstGeom>
          <a:noFill/>
          <a:ln/>
        </p:spPr>
        <p:txBody>
          <a:bodyPr wrap="square" lIns="0" tIns="0" rIns="0" bIns="0" rtlCol="0" anchor="ctr"/>
          <a:lstStyle/>
          <a:p>
            <a:pPr indent="0" marL="0">
              <a:lnSpc>
                <a:spcPct val="130000"/>
              </a:lnSpc>
              <a:buNone/>
            </a:pPr>
            <a:r>
              <a:rPr lang="en-US" sz="1350" b="1" dirty="0">
                <a:solidFill>
                  <a:srgbClr val="FFFFFF"/>
                </a:solidFill>
                <a:latin typeface="Calibri" pitchFamily="34" charset="0"/>
                <a:ea typeface="Calibri" pitchFamily="34" charset="-122"/>
                <a:cs typeface="Calibri" pitchFamily="34" charset="-120"/>
              </a:rPr>
              <a:t>Model: </a:t>
            </a:r>
            <a:pPr indent="0" marL="0">
              <a:lnSpc>
                <a:spcPct val="130000"/>
              </a:lnSpc>
              <a:buNone/>
            </a:pPr>
            <a:r>
              <a:rPr lang="en-US" sz="1350" dirty="0">
                <a:solidFill>
                  <a:srgbClr val="FFFFFF"/>
                </a:solidFill>
                <a:latin typeface="Calibri" pitchFamily="34" charset="0"/>
                <a:ea typeface="Calibri" pitchFamily="34" charset="-122"/>
                <a:cs typeface="Calibri" pitchFamily="34" charset="-120"/>
              </a:rPr>
              <a:t>Google Gemini (Flash)
</a:t>
            </a:r>
            <a:endParaRPr lang="en-US" sz="1350" dirty="0"/>
          </a:p>
          <a:p>
            <a:pPr indent="0" marL="0">
              <a:lnSpc>
                <a:spcPct val="130000"/>
              </a:lnSpc>
              <a:buNone/>
            </a:pPr>
            <a:r>
              <a:rPr lang="en-US" sz="1350" b="1" dirty="0">
                <a:solidFill>
                  <a:srgbClr val="FFFFFF"/>
                </a:solidFill>
                <a:latin typeface="Calibri" pitchFamily="34" charset="0"/>
                <a:ea typeface="Calibri" pitchFamily="34" charset="-122"/>
                <a:cs typeface="Calibri" pitchFamily="34" charset="-120"/>
              </a:rPr>
              <a:t>Chain: </a:t>
            </a:r>
            <a:pPr indent="0" marL="0">
              <a:lnSpc>
                <a:spcPct val="130000"/>
              </a:lnSpc>
              <a:buNone/>
            </a:pPr>
            <a:r>
              <a:rPr lang="en-US" sz="1350" dirty="0">
                <a:solidFill>
                  <a:srgbClr val="FFFFFF"/>
                </a:solidFill>
                <a:latin typeface="Calibri" pitchFamily="34" charset="0"/>
                <a:ea typeface="Calibri" pitchFamily="34" charset="-122"/>
                <a:cs typeface="Calibri" pitchFamily="34" charset="-120"/>
              </a:rPr>
              <a:t>Custom LCEL-style pipeline in src/rag_chain.py
</a:t>
            </a:r>
            <a:endParaRPr lang="en-US" sz="1350" dirty="0"/>
          </a:p>
          <a:p>
            <a:pPr indent="0" marL="0">
              <a:lnSpc>
                <a:spcPct val="130000"/>
              </a:lnSpc>
              <a:buNone/>
            </a:pPr>
            <a:r>
              <a:rPr lang="en-US" sz="1350" b="1" dirty="0">
                <a:solidFill>
                  <a:srgbClr val="FFFFFF"/>
                </a:solidFill>
                <a:latin typeface="Calibri" pitchFamily="34" charset="0"/>
                <a:ea typeface="Calibri" pitchFamily="34" charset="-122"/>
                <a:cs typeface="Calibri" pitchFamily="34" charset="-120"/>
              </a:rPr>
              <a:t>Output: </a:t>
            </a:r>
            <a:pPr indent="0" marL="0">
              <a:lnSpc>
                <a:spcPct val="130000"/>
              </a:lnSpc>
              <a:buNone/>
            </a:pPr>
            <a:r>
              <a:rPr lang="en-US" sz="1350" dirty="0">
                <a:solidFill>
                  <a:srgbClr val="FFFFFF"/>
                </a:solidFill>
                <a:latin typeface="Calibri" pitchFamily="34" charset="0"/>
                <a:ea typeface="Calibri" pitchFamily="34" charset="-122"/>
                <a:cs typeface="Calibri" pitchFamily="34" charset="-120"/>
              </a:rPr>
              <a:t>Answer + top-3 cited passages, each with paper title, page number, and retrieval score</a:t>
            </a:r>
            <a:endParaRPr lang="en-US" sz="1350" dirty="0"/>
          </a:p>
        </p:txBody>
      </p:sp>
      <p:sp>
        <p:nvSpPr>
          <p:cNvPr id="10" name="Text 8"/>
          <p:cNvSpPr txBox="1"/>
          <p:nvPr/>
        </p:nvSpPr>
        <p:spPr>
          <a:xfrm>
            <a:off x="11365992" y="6355080"/>
            <a:ext cx="457200" cy="320040"/>
          </a:xfrm>
          <a:prstGeom prst="rect">
            <a:avLst/>
          </a:prstGeom>
          <a:noFill/>
          <a:ln/>
        </p:spPr>
        <p:txBody>
          <a:bodyPr wrap="square" rtlCol="0" anchor="ctr"/>
          <a:lstStyle/>
          <a:p>
            <a:pPr algn="r" indent="0" marL="0">
              <a:buNone/>
            </a:pPr>
            <a:r>
              <a:rPr lang="en-US" sz="1100" dirty="0">
                <a:solidFill>
                  <a:srgbClr val="5B6485"/>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rtlCol="0" anchor="ctr"/>
          <a:lstStyle/>
          <a:p>
            <a:pPr indent="0" marL="0">
              <a:buNone/>
            </a:pPr>
            <a:r>
              <a:rPr lang="en-US" sz="1200" b="1" spc="200" kern="0" dirty="0">
                <a:solidFill>
                  <a:srgbClr val="5B6485"/>
                </a:solidFill>
                <a:latin typeface="Calibri" pitchFamily="34" charset="0"/>
                <a:ea typeface="Calibri" pitchFamily="34" charset="-122"/>
                <a:cs typeface="Calibri" pitchFamily="34" charset="-120"/>
              </a:rPr>
              <a:t>RESULTS &amp; DEMO</a:t>
            </a:r>
            <a:endParaRPr lang="en-US" sz="1200" dirty="0"/>
          </a:p>
        </p:txBody>
      </p:sp>
      <p:sp>
        <p:nvSpPr>
          <p:cNvPr id="3" name="Text 1"/>
          <p:cNvSpPr txBox="1"/>
          <p:nvPr/>
        </p:nvSpPr>
        <p:spPr>
          <a:xfrm>
            <a:off x="548640" y="713232"/>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12-question evaluation set, honestly assessed</a:t>
            </a:r>
            <a:endParaRPr lang="en-US" sz="3000" dirty="0"/>
          </a:p>
        </p:txBody>
      </p:sp>
      <p:sp>
        <p:nvSpPr>
          <p:cNvPr id="4" name="Shape 2"/>
          <p:cNvSpPr/>
          <p:nvPr/>
        </p:nvSpPr>
        <p:spPr>
          <a:xfrm>
            <a:off x="548640" y="1737360"/>
            <a:ext cx="2606040" cy="1554480"/>
          </a:xfrm>
          <a:prstGeom prst="roundRect">
            <a:avLst>
              <a:gd name="adj" fmla="val 4706"/>
            </a:avLst>
          </a:prstGeom>
          <a:solidFill>
            <a:srgbClr val="F4F6FC"/>
          </a:solidFill>
          <a:ln/>
          <a:effectLst>
            <a:outerShdw sx="100000" sy="100000" kx="0" ky="0" algn="bl" rotWithShape="0" blurRad="76200" dist="25400" dir="5400000">
              <a:srgbClr val="1E2761">
                <a:alpha val="12000"/>
              </a:srgbClr>
            </a:outerShdw>
          </a:effectLst>
        </p:spPr>
      </p:sp>
      <p:sp>
        <p:nvSpPr>
          <p:cNvPr id="5" name="Text 3"/>
          <p:cNvSpPr txBox="1"/>
          <p:nvPr/>
        </p:nvSpPr>
        <p:spPr>
          <a:xfrm>
            <a:off x="548640" y="1901952"/>
            <a:ext cx="2606040" cy="914400"/>
          </a:xfrm>
          <a:prstGeom prst="rect">
            <a:avLst/>
          </a:prstGeom>
          <a:noFill/>
          <a:ln/>
        </p:spPr>
        <p:txBody>
          <a:bodyPr wrap="square" lIns="0" tIns="0" rIns="0" bIns="0" rtlCol="0" anchor="ctr"/>
          <a:lstStyle/>
          <a:p>
            <a:pPr algn="ctr" indent="0" marL="0">
              <a:buNone/>
            </a:pPr>
            <a:r>
              <a:rPr lang="en-US" sz="4000" b="1" dirty="0">
                <a:solidFill>
                  <a:srgbClr val="2E7D5B"/>
                </a:solidFill>
                <a:latin typeface="Cambria" pitchFamily="34" charset="0"/>
                <a:ea typeface="Cambria" pitchFamily="34" charset="-122"/>
                <a:cs typeface="Cambria" pitchFamily="34" charset="-120"/>
              </a:rPr>
              <a:t>100%</a:t>
            </a:r>
            <a:endParaRPr lang="en-US" sz="4000" dirty="0"/>
          </a:p>
        </p:txBody>
      </p:sp>
      <p:sp>
        <p:nvSpPr>
          <p:cNvPr id="6" name="Text 4"/>
          <p:cNvSpPr txBox="1"/>
          <p:nvPr/>
        </p:nvSpPr>
        <p:spPr>
          <a:xfrm>
            <a:off x="685800" y="2834640"/>
            <a:ext cx="2331720" cy="365760"/>
          </a:xfrm>
          <a:prstGeom prst="rect">
            <a:avLst/>
          </a:prstGeom>
          <a:noFill/>
          <a:ln/>
        </p:spPr>
        <p:txBody>
          <a:bodyPr wrap="square" lIns="0" tIns="0" rIns="0" bIns="0" rtlCol="0" anchor="ctr"/>
          <a:lstStyle/>
          <a:p>
            <a:pPr algn="ctr" indent="0" marL="0">
              <a:buNone/>
            </a:pPr>
            <a:r>
              <a:rPr lang="en-US" sz="1200" dirty="0">
                <a:solidFill>
                  <a:srgbClr val="5B6485"/>
                </a:solidFill>
                <a:latin typeface="Calibri" pitchFamily="34" charset="0"/>
                <a:ea typeface="Calibri" pitchFamily="34" charset="-122"/>
                <a:cs typeface="Calibri" pitchFamily="34" charset="-120"/>
              </a:rPr>
              <a:t>correct paper retrieved</a:t>
            </a:r>
            <a:endParaRPr lang="en-US" sz="1200" dirty="0"/>
          </a:p>
          <a:p>
            <a:pPr algn="ctr" indent="0" marL="0">
              <a:buNone/>
            </a:pPr>
            <a:r>
              <a:rPr lang="en-US" sz="1200" dirty="0">
                <a:solidFill>
                  <a:srgbClr val="5B6485"/>
                </a:solidFill>
                <a:latin typeface="Calibri" pitchFamily="34" charset="0"/>
                <a:ea typeface="Calibri" pitchFamily="34" charset="-122"/>
                <a:cs typeface="Calibri" pitchFamily="34" charset="-120"/>
              </a:rPr>
              <a:t>in top-6, every question</a:t>
            </a:r>
            <a:endParaRPr lang="en-US" sz="1200" dirty="0"/>
          </a:p>
        </p:txBody>
      </p:sp>
      <p:sp>
        <p:nvSpPr>
          <p:cNvPr id="7" name="Shape 5"/>
          <p:cNvSpPr/>
          <p:nvPr/>
        </p:nvSpPr>
        <p:spPr>
          <a:xfrm>
            <a:off x="3291840" y="1737360"/>
            <a:ext cx="2606040" cy="1554480"/>
          </a:xfrm>
          <a:prstGeom prst="roundRect">
            <a:avLst>
              <a:gd name="adj" fmla="val 4706"/>
            </a:avLst>
          </a:prstGeom>
          <a:solidFill>
            <a:srgbClr val="F4F6FC"/>
          </a:solidFill>
          <a:ln/>
          <a:effectLst>
            <a:outerShdw sx="100000" sy="100000" kx="0" ky="0" algn="bl" rotWithShape="0" blurRad="76200" dist="25400" dir="5400000">
              <a:srgbClr val="1E2761">
                <a:alpha val="12000"/>
              </a:srgbClr>
            </a:outerShdw>
          </a:effectLst>
        </p:spPr>
      </p:sp>
      <p:sp>
        <p:nvSpPr>
          <p:cNvPr id="8" name="Text 6"/>
          <p:cNvSpPr txBox="1"/>
          <p:nvPr/>
        </p:nvSpPr>
        <p:spPr>
          <a:xfrm>
            <a:off x="3291840" y="1901952"/>
            <a:ext cx="2606040" cy="914400"/>
          </a:xfrm>
          <a:prstGeom prst="rect">
            <a:avLst/>
          </a:prstGeom>
          <a:noFill/>
          <a:ln/>
        </p:spPr>
        <p:txBody>
          <a:bodyPr wrap="square" lIns="0" tIns="0" rIns="0" bIns="0" rtlCol="0" anchor="ctr"/>
          <a:lstStyle/>
          <a:p>
            <a:pPr algn="ctr" indent="0" marL="0">
              <a:buNone/>
            </a:pPr>
            <a:r>
              <a:rPr lang="en-US" sz="4000" b="1" dirty="0">
                <a:solidFill>
                  <a:srgbClr val="2E7D5B"/>
                </a:solidFill>
                <a:latin typeface="Cambria" pitchFamily="34" charset="0"/>
                <a:ea typeface="Cambria" pitchFamily="34" charset="-122"/>
                <a:cs typeface="Cambria" pitchFamily="34" charset="-120"/>
              </a:rPr>
              <a:t>9/10</a:t>
            </a:r>
            <a:endParaRPr lang="en-US" sz="4000" dirty="0"/>
          </a:p>
        </p:txBody>
      </p:sp>
      <p:sp>
        <p:nvSpPr>
          <p:cNvPr id="9" name="Text 7"/>
          <p:cNvSpPr txBox="1"/>
          <p:nvPr/>
        </p:nvSpPr>
        <p:spPr>
          <a:xfrm>
            <a:off x="3429000" y="2834640"/>
            <a:ext cx="2331720" cy="365760"/>
          </a:xfrm>
          <a:prstGeom prst="rect">
            <a:avLst/>
          </a:prstGeom>
          <a:noFill/>
          <a:ln/>
        </p:spPr>
        <p:txBody>
          <a:bodyPr wrap="square" lIns="0" tIns="0" rIns="0" bIns="0" rtlCol="0" anchor="ctr"/>
          <a:lstStyle/>
          <a:p>
            <a:pPr algn="ctr" indent="0" marL="0">
              <a:buNone/>
            </a:pPr>
            <a:r>
              <a:rPr lang="en-US" sz="1200" dirty="0">
                <a:solidFill>
                  <a:srgbClr val="5B6485"/>
                </a:solidFill>
                <a:latin typeface="Calibri" pitchFamily="34" charset="0"/>
                <a:ea typeface="Calibri" pitchFamily="34" charset="-122"/>
                <a:cs typeface="Calibri" pitchFamily="34" charset="-120"/>
              </a:rPr>
              <a:t>answerable questions</a:t>
            </a:r>
            <a:endParaRPr lang="en-US" sz="1200" dirty="0"/>
          </a:p>
          <a:p>
            <a:pPr algn="ctr" indent="0" marL="0">
              <a:buNone/>
            </a:pPr>
            <a:r>
              <a:rPr lang="en-US" sz="1200" dirty="0">
                <a:solidFill>
                  <a:srgbClr val="5B6485"/>
                </a:solidFill>
                <a:latin typeface="Calibri" pitchFamily="34" charset="0"/>
                <a:ea typeface="Calibri" pitchFamily="34" charset="-122"/>
                <a:cs typeface="Calibri" pitchFamily="34" charset="-120"/>
              </a:rPr>
              <a:t>correctly answered</a:t>
            </a:r>
            <a:endParaRPr lang="en-US" sz="1200" dirty="0"/>
          </a:p>
        </p:txBody>
      </p:sp>
      <p:sp>
        <p:nvSpPr>
          <p:cNvPr id="10" name="Shape 8"/>
          <p:cNvSpPr/>
          <p:nvPr/>
        </p:nvSpPr>
        <p:spPr>
          <a:xfrm>
            <a:off x="6035040" y="1737360"/>
            <a:ext cx="2606040" cy="1554480"/>
          </a:xfrm>
          <a:prstGeom prst="roundRect">
            <a:avLst>
              <a:gd name="adj" fmla="val 4706"/>
            </a:avLst>
          </a:prstGeom>
          <a:solidFill>
            <a:srgbClr val="F4F6FC"/>
          </a:solidFill>
          <a:ln/>
          <a:effectLst>
            <a:outerShdw sx="100000" sy="100000" kx="0" ky="0" algn="bl" rotWithShape="0" blurRad="76200" dist="25400" dir="5400000">
              <a:srgbClr val="1E2761">
                <a:alpha val="12000"/>
              </a:srgbClr>
            </a:outerShdw>
          </a:effectLst>
        </p:spPr>
      </p:sp>
      <p:sp>
        <p:nvSpPr>
          <p:cNvPr id="11" name="Text 9"/>
          <p:cNvSpPr txBox="1"/>
          <p:nvPr/>
        </p:nvSpPr>
        <p:spPr>
          <a:xfrm>
            <a:off x="6035040" y="1901952"/>
            <a:ext cx="2606040" cy="914400"/>
          </a:xfrm>
          <a:prstGeom prst="rect">
            <a:avLst/>
          </a:prstGeom>
          <a:noFill/>
          <a:ln/>
        </p:spPr>
        <p:txBody>
          <a:bodyPr wrap="square" lIns="0" tIns="0" rIns="0" bIns="0" rtlCol="0" anchor="ctr"/>
          <a:lstStyle/>
          <a:p>
            <a:pPr algn="ctr" indent="0" marL="0">
              <a:buNone/>
            </a:pPr>
            <a:r>
              <a:rPr lang="en-US" sz="4000" b="1" dirty="0">
                <a:solidFill>
                  <a:srgbClr val="B8621B"/>
                </a:solidFill>
                <a:latin typeface="Cambria" pitchFamily="34" charset="0"/>
                <a:ea typeface="Cambria" pitchFamily="34" charset="-122"/>
                <a:cs typeface="Cambria" pitchFamily="34" charset="-120"/>
              </a:rPr>
              <a:t>1</a:t>
            </a:r>
            <a:endParaRPr lang="en-US" sz="4000" dirty="0"/>
          </a:p>
        </p:txBody>
      </p:sp>
      <p:sp>
        <p:nvSpPr>
          <p:cNvPr id="12" name="Text 10"/>
          <p:cNvSpPr txBox="1"/>
          <p:nvPr/>
        </p:nvSpPr>
        <p:spPr>
          <a:xfrm>
            <a:off x="6172200" y="2834640"/>
            <a:ext cx="2331720" cy="365760"/>
          </a:xfrm>
          <a:prstGeom prst="rect">
            <a:avLst/>
          </a:prstGeom>
          <a:noFill/>
          <a:ln/>
        </p:spPr>
        <p:txBody>
          <a:bodyPr wrap="square" lIns="0" tIns="0" rIns="0" bIns="0" rtlCol="0" anchor="ctr"/>
          <a:lstStyle/>
          <a:p>
            <a:pPr algn="ctr" indent="0" marL="0">
              <a:buNone/>
            </a:pPr>
            <a:r>
              <a:rPr lang="en-US" sz="1200" dirty="0">
                <a:solidFill>
                  <a:srgbClr val="5B6485"/>
                </a:solidFill>
                <a:latin typeface="Calibri" pitchFamily="34" charset="0"/>
                <a:ea typeface="Calibri" pitchFamily="34" charset="-122"/>
                <a:cs typeface="Calibri" pitchFamily="34" charset="-120"/>
              </a:rPr>
              <a:t>genuine hedging</a:t>
            </a:r>
            <a:endParaRPr lang="en-US" sz="1200" dirty="0"/>
          </a:p>
          <a:p>
            <a:pPr algn="ctr" indent="0" marL="0">
              <a:buNone/>
            </a:pPr>
            <a:r>
              <a:rPr lang="en-US" sz="1200" dirty="0">
                <a:solidFill>
                  <a:srgbClr val="5B6485"/>
                </a:solidFill>
                <a:latin typeface="Calibri" pitchFamily="34" charset="0"/>
                <a:ea typeface="Calibri" pitchFamily="34" charset="-122"/>
                <a:cs typeface="Calibri" pitchFamily="34" charset="-120"/>
              </a:rPr>
              <a:t>failure found (q1)</a:t>
            </a:r>
            <a:endParaRPr lang="en-US" sz="1200" dirty="0"/>
          </a:p>
        </p:txBody>
      </p:sp>
      <p:sp>
        <p:nvSpPr>
          <p:cNvPr id="13" name="Shape 11"/>
          <p:cNvSpPr/>
          <p:nvPr/>
        </p:nvSpPr>
        <p:spPr>
          <a:xfrm>
            <a:off x="8778240" y="1737360"/>
            <a:ext cx="2606040" cy="1554480"/>
          </a:xfrm>
          <a:prstGeom prst="roundRect">
            <a:avLst>
              <a:gd name="adj" fmla="val 4706"/>
            </a:avLst>
          </a:prstGeom>
          <a:solidFill>
            <a:srgbClr val="F4F6FC"/>
          </a:solidFill>
          <a:ln/>
          <a:effectLst>
            <a:outerShdw sx="100000" sy="100000" kx="0" ky="0" algn="bl" rotWithShape="0" blurRad="76200" dist="25400" dir="5400000">
              <a:srgbClr val="1E2761">
                <a:alpha val="12000"/>
              </a:srgbClr>
            </a:outerShdw>
          </a:effectLst>
        </p:spPr>
      </p:sp>
      <p:sp>
        <p:nvSpPr>
          <p:cNvPr id="14" name="Text 12"/>
          <p:cNvSpPr txBox="1"/>
          <p:nvPr/>
        </p:nvSpPr>
        <p:spPr>
          <a:xfrm>
            <a:off x="8778240" y="1901952"/>
            <a:ext cx="2606040" cy="914400"/>
          </a:xfrm>
          <a:prstGeom prst="rect">
            <a:avLst/>
          </a:prstGeom>
          <a:noFill/>
          <a:ln/>
        </p:spPr>
        <p:txBody>
          <a:bodyPr wrap="square" lIns="0" tIns="0" rIns="0" bIns="0" rtlCol="0" anchor="ctr"/>
          <a:lstStyle/>
          <a:p>
            <a:pPr algn="ctr" indent="0" marL="0">
              <a:buNone/>
            </a:pPr>
            <a:r>
              <a:rPr lang="en-US" sz="4000" b="1" dirty="0">
                <a:solidFill>
                  <a:srgbClr val="2E7D5B"/>
                </a:solidFill>
                <a:latin typeface="Cambria" pitchFamily="34" charset="0"/>
                <a:ea typeface="Cambria" pitchFamily="34" charset="-122"/>
                <a:cs typeface="Cambria" pitchFamily="34" charset="-120"/>
              </a:rPr>
              <a:t>2/2</a:t>
            </a:r>
            <a:endParaRPr lang="en-US" sz="4000" dirty="0"/>
          </a:p>
        </p:txBody>
      </p:sp>
      <p:sp>
        <p:nvSpPr>
          <p:cNvPr id="15" name="Text 13"/>
          <p:cNvSpPr txBox="1"/>
          <p:nvPr/>
        </p:nvSpPr>
        <p:spPr>
          <a:xfrm>
            <a:off x="8915400" y="2834640"/>
            <a:ext cx="2331720" cy="365760"/>
          </a:xfrm>
          <a:prstGeom prst="rect">
            <a:avLst/>
          </a:prstGeom>
          <a:noFill/>
          <a:ln/>
        </p:spPr>
        <p:txBody>
          <a:bodyPr wrap="square" lIns="0" tIns="0" rIns="0" bIns="0" rtlCol="0" anchor="ctr"/>
          <a:lstStyle/>
          <a:p>
            <a:pPr algn="ctr" indent="0" marL="0">
              <a:buNone/>
            </a:pPr>
            <a:r>
              <a:rPr lang="en-US" sz="1200" dirty="0">
                <a:solidFill>
                  <a:srgbClr val="5B6485"/>
                </a:solidFill>
                <a:latin typeface="Calibri" pitchFamily="34" charset="0"/>
                <a:ea typeface="Calibri" pitchFamily="34" charset="-122"/>
                <a:cs typeface="Calibri" pitchFamily="34" charset="-120"/>
              </a:rPr>
              <a:t>unanswerable /</a:t>
            </a:r>
            <a:endParaRPr lang="en-US" sz="1200" dirty="0"/>
          </a:p>
          <a:p>
            <a:pPr algn="ctr" indent="0" marL="0">
              <a:buNone/>
            </a:pPr>
            <a:r>
              <a:rPr lang="en-US" sz="1200" dirty="0">
                <a:solidFill>
                  <a:srgbClr val="5B6485"/>
                </a:solidFill>
                <a:latin typeface="Calibri" pitchFamily="34" charset="0"/>
                <a:ea typeface="Calibri" pitchFamily="34" charset="-122"/>
                <a:cs typeface="Calibri" pitchFamily="34" charset="-120"/>
              </a:rPr>
              <a:t>mislabeled Qs handled right</a:t>
            </a:r>
            <a:endParaRPr lang="en-US" sz="1200" dirty="0"/>
          </a:p>
        </p:txBody>
      </p:sp>
      <p:sp>
        <p:nvSpPr>
          <p:cNvPr id="16" name="Shape 14"/>
          <p:cNvSpPr/>
          <p:nvPr/>
        </p:nvSpPr>
        <p:spPr>
          <a:xfrm>
            <a:off x="548640" y="3566160"/>
            <a:ext cx="11064240" cy="2468880"/>
          </a:xfrm>
          <a:prstGeom prst="roundRect">
            <a:avLst>
              <a:gd name="adj" fmla="val 3704"/>
            </a:avLst>
          </a:prstGeom>
          <a:solidFill>
            <a:srgbClr val="F4F6FC"/>
          </a:solidFill>
          <a:ln/>
        </p:spPr>
      </p:sp>
      <p:sp>
        <p:nvSpPr>
          <p:cNvPr id="17" name="Text 15"/>
          <p:cNvSpPr txBox="1"/>
          <p:nvPr/>
        </p:nvSpPr>
        <p:spPr>
          <a:xfrm>
            <a:off x="822960" y="3749040"/>
            <a:ext cx="4572000" cy="274320"/>
          </a:xfrm>
          <a:prstGeom prst="rect">
            <a:avLst/>
          </a:prstGeom>
          <a:noFill/>
          <a:ln/>
        </p:spPr>
        <p:txBody>
          <a:bodyPr wrap="square" rtlCol="0" anchor="ctr"/>
          <a:lstStyle/>
          <a:p>
            <a:pPr indent="0" marL="0">
              <a:buNone/>
            </a:pPr>
            <a:r>
              <a:rPr lang="en-US" sz="1200" b="1" spc="100" kern="0" dirty="0">
                <a:solidFill>
                  <a:srgbClr val="5B6485"/>
                </a:solidFill>
                <a:latin typeface="Calibri" pitchFamily="34" charset="0"/>
                <a:ea typeface="Calibri" pitchFamily="34" charset="-122"/>
                <a:cs typeface="Calibri" pitchFamily="34" charset="-120"/>
              </a:rPr>
              <a:t>SAMPLE Q&amp;A</a:t>
            </a:r>
            <a:endParaRPr lang="en-US" sz="1200" dirty="0"/>
          </a:p>
        </p:txBody>
      </p:sp>
      <p:sp>
        <p:nvSpPr>
          <p:cNvPr id="18" name="Text 16"/>
          <p:cNvSpPr txBox="1"/>
          <p:nvPr/>
        </p:nvSpPr>
        <p:spPr>
          <a:xfrm>
            <a:off x="822960" y="4069080"/>
            <a:ext cx="10515600" cy="1828800"/>
          </a:xfrm>
          <a:prstGeom prst="rect">
            <a:avLst/>
          </a:prstGeom>
          <a:noFill/>
          <a:ln/>
        </p:spPr>
        <p:txBody>
          <a:bodyPr wrap="square" lIns="0" tIns="0" rIns="0" bIns="0" rtlCol="0" anchor="ctr"/>
          <a:lstStyle/>
          <a:p>
            <a:pPr indent="0" marL="0">
              <a:lnSpc>
                <a:spcPct val="125000"/>
              </a:lnSpc>
              <a:buNone/>
            </a:pPr>
            <a:r>
              <a:rPr lang="en-US" sz="1300" b="1" dirty="0">
                <a:solidFill>
                  <a:srgbClr val="1E2761"/>
                </a:solidFill>
                <a:latin typeface="Calibri" pitchFamily="34" charset="0"/>
                <a:ea typeface="Calibri" pitchFamily="34" charset="-122"/>
                <a:cs typeface="Calibri" pitchFamily="34" charset="-120"/>
              </a:rPr>
              <a:t>Q: What are the two main pretraining tasks used to train BERT?
</a:t>
            </a:r>
            <a:endParaRPr lang="en-US" sz="1300" dirty="0"/>
          </a:p>
          <a:p>
            <a:pPr indent="0" marL="0">
              <a:lnSpc>
                <a:spcPct val="125000"/>
              </a:lnSpc>
              <a:buNone/>
            </a:pPr>
            <a:r>
              <a:rPr lang="en-US" sz="1300" dirty="0">
                <a:solidFill>
                  <a:srgbClr val="1A1D2E"/>
                </a:solidFill>
                <a:latin typeface="Calibri" pitchFamily="34" charset="0"/>
                <a:ea typeface="Calibri" pitchFamily="34" charset="-122"/>
                <a:cs typeface="Calibri" pitchFamily="34" charset="-120"/>
              </a:rPr>
              <a:t>A: BERT is pre-trained using two unsupervised tasks: “masked language model” (MLM) and “next sentence prediction” (NSP)...
</a:t>
            </a:r>
            <a:endParaRPr lang="en-US" sz="1300" dirty="0"/>
          </a:p>
          <a:p>
            <a:pPr indent="0" marL="0">
              <a:lnSpc>
                <a:spcPct val="125000"/>
              </a:lnSpc>
              <a:buNone/>
            </a:pPr>
            <a:r>
              <a:rPr lang="en-US" sz="1300" b="1" dirty="0">
                <a:solidFill>
                  <a:srgbClr val="1E2761"/>
                </a:solidFill>
                <a:latin typeface="Calibri" pitchFamily="34" charset="0"/>
                <a:ea typeface="Calibri" pitchFamily="34" charset="-122"/>
                <a:cs typeface="Calibri" pitchFamily="34" charset="-120"/>
              </a:rPr>
              <a:t>Sources: </a:t>
            </a:r>
            <a:pPr indent="0" marL="0">
              <a:lnSpc>
                <a:spcPct val="125000"/>
              </a:lnSpc>
              <a:buNone/>
            </a:pPr>
            <a:r>
              <a:rPr lang="en-US" sz="1300" i="1" dirty="0">
                <a:solidFill>
                  <a:srgbClr val="5B6485"/>
                </a:solidFill>
                <a:latin typeface="Calibri" pitchFamily="34" charset="0"/>
                <a:ea typeface="Calibri" pitchFamily="34" charset="-122"/>
                <a:cs typeface="Calibri" pitchFamily="34" charset="-120"/>
              </a:rPr>
              <a:t>[1] BERT p1  ·  [2] BERT p4  ·  [3] BERT p16</a:t>
            </a:r>
            <a:endParaRPr lang="en-US" sz="1300" dirty="0"/>
          </a:p>
        </p:txBody>
      </p:sp>
      <p:sp>
        <p:nvSpPr>
          <p:cNvPr id="19" name="Text 17"/>
          <p:cNvSpPr txBox="1"/>
          <p:nvPr/>
        </p:nvSpPr>
        <p:spPr>
          <a:xfrm>
            <a:off x="11365992" y="6355080"/>
            <a:ext cx="457200" cy="320040"/>
          </a:xfrm>
          <a:prstGeom prst="rect">
            <a:avLst/>
          </a:prstGeom>
          <a:noFill/>
          <a:ln/>
        </p:spPr>
        <p:txBody>
          <a:bodyPr wrap="square" rtlCol="0" anchor="ctr"/>
          <a:lstStyle/>
          <a:p>
            <a:pPr algn="r" indent="0" marL="0">
              <a:buNone/>
            </a:pPr>
            <a:r>
              <a:rPr lang="en-US" sz="1100" dirty="0">
                <a:solidFill>
                  <a:srgbClr val="5B6485"/>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rtlCol="0" anchor="ctr"/>
          <a:lstStyle/>
          <a:p>
            <a:pPr indent="0" marL="0">
              <a:buNone/>
            </a:pPr>
            <a:r>
              <a:rPr lang="en-US" sz="1200" b="1" spc="200" kern="0" dirty="0">
                <a:solidFill>
                  <a:srgbClr val="5B6485"/>
                </a:solidFill>
                <a:latin typeface="Calibri" pitchFamily="34" charset="0"/>
                <a:ea typeface="Calibri" pitchFamily="34" charset="-122"/>
                <a:cs typeface="Calibri" pitchFamily="34" charset="-120"/>
              </a:rPr>
              <a:t>STRETCH GOALS</a:t>
            </a:r>
            <a:endParaRPr lang="en-US" sz="1200" dirty="0"/>
          </a:p>
        </p:txBody>
      </p:sp>
      <p:sp>
        <p:nvSpPr>
          <p:cNvPr id="3" name="Text 1"/>
          <p:cNvSpPr txBox="1"/>
          <p:nvPr/>
        </p:nvSpPr>
        <p:spPr>
          <a:xfrm>
            <a:off x="548640" y="713232"/>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Two implemented: a polished UI and conversational memory</a:t>
            </a:r>
            <a:endParaRPr lang="en-US" sz="3000" dirty="0"/>
          </a:p>
        </p:txBody>
      </p:sp>
      <p:sp>
        <p:nvSpPr>
          <p:cNvPr id="4" name="Shape 2"/>
          <p:cNvSpPr/>
          <p:nvPr/>
        </p:nvSpPr>
        <p:spPr>
          <a:xfrm>
            <a:off x="548640" y="1737360"/>
            <a:ext cx="5120640" cy="4206240"/>
          </a:xfrm>
          <a:prstGeom prst="roundRect">
            <a:avLst>
              <a:gd name="adj" fmla="val 2174"/>
            </a:avLst>
          </a:prstGeom>
          <a:solidFill>
            <a:srgbClr val="F4F6FC"/>
          </a:solidFill>
          <a:ln/>
        </p:spPr>
      </p:sp>
      <p:sp>
        <p:nvSpPr>
          <p:cNvPr id="5" name="Shape 3"/>
          <p:cNvSpPr/>
          <p:nvPr/>
        </p:nvSpPr>
        <p:spPr>
          <a:xfrm>
            <a:off x="822960" y="2011680"/>
            <a:ext cx="502920" cy="502920"/>
          </a:xfrm>
          <a:prstGeom prst="ellipse">
            <a:avLst/>
          </a:prstGeom>
          <a:solidFill>
            <a:srgbClr val="1E2761"/>
          </a:solidFill>
          <a:ln/>
        </p:spPr>
      </p:sp>
      <p:sp>
        <p:nvSpPr>
          <p:cNvPr id="6" name="Text 4"/>
          <p:cNvSpPr txBox="1"/>
          <p:nvPr/>
        </p:nvSpPr>
        <p:spPr>
          <a:xfrm>
            <a:off x="822960" y="2011680"/>
            <a:ext cx="502920" cy="502920"/>
          </a:xfrm>
          <a:prstGeom prst="rect">
            <a:avLst/>
          </a:prstGeom>
          <a:noFill/>
          <a:ln/>
        </p:spPr>
        <p:txBody>
          <a:bodyPr wrap="square" lIns="0" tIns="0" rIns="0" bIns="0" rtlCol="0" anchor="ctr"/>
          <a:lstStyle/>
          <a:p>
            <a:pPr algn="ctr" indent="0" marL="0">
              <a:buNone/>
            </a:pPr>
            <a:r>
              <a:rPr lang="en-US" sz="1540" dirty="0">
                <a:solidFill>
                  <a:srgbClr val="FFFFFF"/>
                </a:solidFill>
                <a:latin typeface="Calibri" pitchFamily="34" charset="0"/>
                <a:ea typeface="Calibri" pitchFamily="34" charset="-122"/>
                <a:cs typeface="Calibri" pitchFamily="34" charset="-120"/>
              </a:rPr>
              <a:t>💬</a:t>
            </a:r>
            <a:endParaRPr lang="en-US" sz="1540" dirty="0"/>
          </a:p>
        </p:txBody>
      </p:sp>
      <p:sp>
        <p:nvSpPr>
          <p:cNvPr id="7" name="Text 5"/>
          <p:cNvSpPr txBox="1"/>
          <p:nvPr/>
        </p:nvSpPr>
        <p:spPr>
          <a:xfrm>
            <a:off x="1508760" y="2011680"/>
            <a:ext cx="4023360" cy="5029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Option 2 — Streamlit App</a:t>
            </a:r>
            <a:endParaRPr lang="en-US" sz="1600" dirty="0"/>
          </a:p>
        </p:txBody>
      </p:sp>
      <p:sp>
        <p:nvSpPr>
          <p:cNvPr id="8" name="Text 6"/>
          <p:cNvSpPr txBox="1"/>
          <p:nvPr/>
        </p:nvSpPr>
        <p:spPr>
          <a:xfrm>
            <a:off x="822960" y="2743200"/>
            <a:ext cx="4572000" cy="2926080"/>
          </a:xfrm>
          <a:prstGeom prst="rect">
            <a:avLst/>
          </a:prstGeom>
          <a:noFill/>
          <a:ln/>
        </p:spPr>
        <p:txBody>
          <a:bodyPr wrap="square" lIns="0" tIns="0" rIns="0" bIns="0" rtlCol="0" anchor="ctr"/>
          <a:lstStyle/>
          <a:p>
            <a:pPr indent="0" marL="0">
              <a:lnSpc>
                <a:spcPct val="135000"/>
              </a:lnSpc>
              <a:buNone/>
            </a:pPr>
            <a:r>
              <a:rPr lang="en-US" sz="1400" dirty="0">
                <a:solidFill>
                  <a:srgbClr val="1A1D2E"/>
                </a:solidFill>
                <a:latin typeface="Calibri" pitchFamily="34" charset="0"/>
                <a:ea typeface="Calibri" pitchFamily="34" charset="-122"/>
                <a:cs typeface="Calibri" pitchFamily="34" charset="-120"/>
              </a:rPr>
              <a:t>• Full chat UI with sidebar controls
</a:t>
            </a:r>
            <a:endParaRPr lang="en-US" sz="1400" dirty="0"/>
          </a:p>
          <a:p>
            <a:pPr indent="0" marL="0">
              <a:lnSpc>
                <a:spcPct val="135000"/>
              </a:lnSpc>
              <a:buNone/>
            </a:pPr>
            <a:r>
              <a:rPr lang="en-US" sz="1400" dirty="0">
                <a:solidFill>
                  <a:srgbClr val="1A1D2E"/>
                </a:solidFill>
                <a:latin typeface="Calibri" pitchFamily="34" charset="0"/>
                <a:ea typeface="Calibri" pitchFamily="34" charset="-122"/>
                <a:cs typeface="Calibri" pitchFamily="34" charset="-120"/>
              </a:rPr>
              <a:t>• Switch embedding model &amp; retrieval strategy live
</a:t>
            </a:r>
            <a:endParaRPr lang="en-US" sz="1400" dirty="0"/>
          </a:p>
          <a:p>
            <a:pPr indent="0" marL="0">
              <a:lnSpc>
                <a:spcPct val="135000"/>
              </a:lnSpc>
              <a:buNone/>
            </a:pPr>
            <a:r>
              <a:rPr lang="en-US" sz="1400" dirty="0">
                <a:solidFill>
                  <a:srgbClr val="1A1D2E"/>
                </a:solidFill>
                <a:latin typeface="Calibri" pitchFamily="34" charset="0"/>
                <a:ea typeface="Calibri" pitchFamily="34" charset="-122"/>
                <a:cs typeface="Calibri" pitchFamily="34" charset="-120"/>
              </a:rPr>
              <a:t>• Expandable “Sources” panel per answer
</a:t>
            </a:r>
            <a:endParaRPr lang="en-US" sz="1400" dirty="0"/>
          </a:p>
          <a:p>
            <a:pPr indent="0" marL="0">
              <a:lnSpc>
                <a:spcPct val="135000"/>
              </a:lnSpc>
              <a:buNone/>
            </a:pPr>
            <a:r>
              <a:rPr lang="en-US" sz="1400" dirty="0">
                <a:solidFill>
                  <a:srgbClr val="1A1D2E"/>
                </a:solidFill>
                <a:latin typeface="Calibri" pitchFamily="34" charset="0"/>
                <a:ea typeface="Calibri" pitchFamily="34" charset="-122"/>
                <a:cs typeface="Calibri" pitchFamily="34" charset="-120"/>
              </a:rPr>
              <a:t>• Deployment-ready: Docker + Streamlit Cloud config</a:t>
            </a:r>
            <a:endParaRPr lang="en-US" sz="1400" dirty="0"/>
          </a:p>
        </p:txBody>
      </p:sp>
      <p:sp>
        <p:nvSpPr>
          <p:cNvPr id="9" name="Shape 7"/>
          <p:cNvSpPr/>
          <p:nvPr/>
        </p:nvSpPr>
        <p:spPr>
          <a:xfrm>
            <a:off x="5943600" y="1737360"/>
            <a:ext cx="5120640" cy="4206240"/>
          </a:xfrm>
          <a:prstGeom prst="roundRect">
            <a:avLst>
              <a:gd name="adj" fmla="val 2174"/>
            </a:avLst>
          </a:prstGeom>
          <a:solidFill>
            <a:srgbClr val="F4F6FC"/>
          </a:solidFill>
          <a:ln/>
        </p:spPr>
      </p:sp>
      <p:sp>
        <p:nvSpPr>
          <p:cNvPr id="10" name="Shape 8"/>
          <p:cNvSpPr/>
          <p:nvPr/>
        </p:nvSpPr>
        <p:spPr>
          <a:xfrm>
            <a:off x="6217920" y="2011680"/>
            <a:ext cx="502920" cy="502920"/>
          </a:xfrm>
          <a:prstGeom prst="ellipse">
            <a:avLst/>
          </a:prstGeom>
          <a:solidFill>
            <a:srgbClr val="1E2761"/>
          </a:solidFill>
          <a:ln/>
        </p:spPr>
      </p:sp>
      <p:sp>
        <p:nvSpPr>
          <p:cNvPr id="11" name="Text 9"/>
          <p:cNvSpPr txBox="1"/>
          <p:nvPr/>
        </p:nvSpPr>
        <p:spPr>
          <a:xfrm>
            <a:off x="6217920" y="2011680"/>
            <a:ext cx="502920" cy="502920"/>
          </a:xfrm>
          <a:prstGeom prst="rect">
            <a:avLst/>
          </a:prstGeom>
          <a:noFill/>
          <a:ln/>
        </p:spPr>
        <p:txBody>
          <a:bodyPr wrap="square" lIns="0" tIns="0" rIns="0" bIns="0" rtlCol="0" anchor="ctr"/>
          <a:lstStyle/>
          <a:p>
            <a:pPr algn="ctr" indent="0" marL="0">
              <a:buNone/>
            </a:pPr>
            <a:r>
              <a:rPr lang="en-US" sz="1540" dirty="0">
                <a:solidFill>
                  <a:srgbClr val="FFFFFF"/>
                </a:solidFill>
                <a:latin typeface="Calibri" pitchFamily="34" charset="0"/>
                <a:ea typeface="Calibri" pitchFamily="34" charset="-122"/>
                <a:cs typeface="Calibri" pitchFamily="34" charset="-120"/>
              </a:rPr>
              <a:t>🧠</a:t>
            </a:r>
            <a:endParaRPr lang="en-US" sz="1540" dirty="0"/>
          </a:p>
        </p:txBody>
      </p:sp>
      <p:sp>
        <p:nvSpPr>
          <p:cNvPr id="12" name="Text 10"/>
          <p:cNvSpPr txBox="1"/>
          <p:nvPr/>
        </p:nvSpPr>
        <p:spPr>
          <a:xfrm>
            <a:off x="6903720" y="2011680"/>
            <a:ext cx="4023360" cy="5029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Option 1 — Conversational Memory</a:t>
            </a:r>
            <a:endParaRPr lang="en-US" sz="1600" dirty="0"/>
          </a:p>
        </p:txBody>
      </p:sp>
      <p:sp>
        <p:nvSpPr>
          <p:cNvPr id="13" name="Text 11"/>
          <p:cNvSpPr txBox="1"/>
          <p:nvPr/>
        </p:nvSpPr>
        <p:spPr>
          <a:xfrm>
            <a:off x="6217920" y="2743200"/>
            <a:ext cx="4572000" cy="2926080"/>
          </a:xfrm>
          <a:prstGeom prst="rect">
            <a:avLst/>
          </a:prstGeom>
          <a:noFill/>
          <a:ln/>
        </p:spPr>
        <p:txBody>
          <a:bodyPr wrap="square" lIns="0" tIns="0" rIns="0" bIns="0" rtlCol="0" anchor="ctr"/>
          <a:lstStyle/>
          <a:p>
            <a:pPr indent="0" marL="0">
              <a:lnSpc>
                <a:spcPct val="140000"/>
              </a:lnSpc>
              <a:buNone/>
            </a:pPr>
            <a:r>
              <a:rPr lang="en-US" sz="1400" b="1" dirty="0">
                <a:solidFill>
                  <a:srgbClr val="1A1D2E"/>
                </a:solidFill>
                <a:latin typeface="Calibri" pitchFamily="34" charset="0"/>
                <a:ea typeface="Calibri" pitchFamily="34" charset="-122"/>
                <a:cs typeface="Calibri" pitchFamily="34" charset="-120"/>
              </a:rPr>
              <a:t>Follow-up: </a:t>
            </a:r>
            <a:pPr indent="0" marL="0">
              <a:lnSpc>
                <a:spcPct val="140000"/>
              </a:lnSpc>
              <a:buNone/>
            </a:pPr>
            <a:r>
              <a:rPr lang="en-US" sz="1400" i="1" dirty="0">
                <a:solidFill>
                  <a:srgbClr val="1A1D2E"/>
                </a:solidFill>
                <a:latin typeface="Calibri" pitchFamily="34" charset="0"/>
                <a:ea typeface="Calibri" pitchFamily="34" charset="-122"/>
                <a:cs typeface="Calibri" pitchFamily="34" charset="-120"/>
              </a:rPr>
              <a:t>“What benchmark datasets did it use for evaluation?”
</a:t>
            </a:r>
            <a:endParaRPr lang="en-US" sz="1400" dirty="0"/>
          </a:p>
          <a:p>
            <a:pPr indent="0" marL="0">
              <a:lnSpc>
                <a:spcPct val="140000"/>
              </a:lnSpc>
              <a:buNone/>
            </a:pPr>
            <a:r>
              <a:rPr lang="en-US" sz="1400" b="1" dirty="0">
                <a:solidFill>
                  <a:srgbClr val="1A1D2E"/>
                </a:solidFill>
                <a:latin typeface="Calibri" pitchFamily="34" charset="0"/>
                <a:ea typeface="Calibri" pitchFamily="34" charset="-122"/>
                <a:cs typeface="Calibri" pitchFamily="34" charset="-120"/>
              </a:rPr>
              <a:t>Rewritten standalone: </a:t>
            </a:r>
            <a:pPr indent="0" marL="0">
              <a:lnSpc>
                <a:spcPct val="140000"/>
              </a:lnSpc>
              <a:buNone/>
            </a:pPr>
            <a:r>
              <a:rPr lang="en-US" sz="1400" i="1" dirty="0">
                <a:solidFill>
                  <a:srgbClr val="2E7D5B"/>
                </a:solidFill>
                <a:latin typeface="Calibri" pitchFamily="34" charset="0"/>
                <a:ea typeface="Calibri" pitchFamily="34" charset="-122"/>
                <a:cs typeface="Calibri" pitchFamily="34" charset="-120"/>
              </a:rPr>
              <a:t>“What benchmark datasets did SELF-RAG use for evaluation?”</a:t>
            </a:r>
            <a:endParaRPr lang="en-US" sz="1400" dirty="0"/>
          </a:p>
        </p:txBody>
      </p:sp>
      <p:sp>
        <p:nvSpPr>
          <p:cNvPr id="14" name="Text 12"/>
          <p:cNvSpPr txBox="1"/>
          <p:nvPr/>
        </p:nvSpPr>
        <p:spPr>
          <a:xfrm>
            <a:off x="11365992" y="6355080"/>
            <a:ext cx="457200" cy="320040"/>
          </a:xfrm>
          <a:prstGeom prst="rect">
            <a:avLst/>
          </a:prstGeom>
          <a:noFill/>
          <a:ln/>
        </p:spPr>
        <p:txBody>
          <a:bodyPr wrap="square" rtlCol="0" anchor="ctr"/>
          <a:lstStyle/>
          <a:p>
            <a:pPr algn="r" indent="0" marL="0">
              <a:buNone/>
            </a:pPr>
            <a:r>
              <a:rPr lang="en-US" sz="1100" dirty="0">
                <a:solidFill>
                  <a:srgbClr val="5B6485"/>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rtlCol="0" anchor="ctr"/>
          <a:lstStyle/>
          <a:p>
            <a:pPr indent="0" marL="0">
              <a:buNone/>
            </a:pPr>
            <a:r>
              <a:rPr lang="en-US" sz="1200" b="1" spc="200" kern="0" dirty="0">
                <a:solidFill>
                  <a:srgbClr val="5B6485"/>
                </a:solidFill>
                <a:latin typeface="Calibri" pitchFamily="34" charset="0"/>
                <a:ea typeface="Calibri" pitchFamily="34" charset="-122"/>
                <a:cs typeface="Calibri" pitchFamily="34" charset="-120"/>
              </a:rPr>
              <a:t>CHALLENGES &amp; LEARNINGS</a:t>
            </a:r>
            <a:endParaRPr lang="en-US" sz="1200" dirty="0"/>
          </a:p>
        </p:txBody>
      </p:sp>
      <p:sp>
        <p:nvSpPr>
          <p:cNvPr id="3" name="Text 1"/>
          <p:cNvSpPr txBox="1"/>
          <p:nvPr/>
        </p:nvSpPr>
        <p:spPr>
          <a:xfrm>
            <a:off x="548640" y="713232"/>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Three real problems hit during development — and how each was resolved</a:t>
            </a:r>
            <a:endParaRPr lang="en-US" sz="3000" dirty="0"/>
          </a:p>
        </p:txBody>
      </p:sp>
      <p:sp>
        <p:nvSpPr>
          <p:cNvPr id="4" name="Shape 2"/>
          <p:cNvSpPr/>
          <p:nvPr/>
        </p:nvSpPr>
        <p:spPr>
          <a:xfrm>
            <a:off x="548640" y="1691640"/>
            <a:ext cx="457200" cy="457200"/>
          </a:xfrm>
          <a:prstGeom prst="ellipse">
            <a:avLst/>
          </a:prstGeom>
          <a:solidFill>
            <a:srgbClr val="F4F6FC"/>
          </a:solidFill>
          <a:ln/>
        </p:spPr>
      </p:sp>
      <p:sp>
        <p:nvSpPr>
          <p:cNvPr id="5" name="Text 3"/>
          <p:cNvSpPr txBox="1"/>
          <p:nvPr/>
        </p:nvSpPr>
        <p:spPr>
          <a:xfrm>
            <a:off x="548640" y="1691640"/>
            <a:ext cx="457200" cy="457200"/>
          </a:xfrm>
          <a:prstGeom prst="rect">
            <a:avLst/>
          </a:prstGeom>
          <a:noFill/>
          <a:ln/>
        </p:spPr>
        <p:txBody>
          <a:bodyPr wrap="square" lIns="0" tIns="0" rIns="0" bIns="0" rtlCol="0" anchor="ctr"/>
          <a:lstStyle/>
          <a:p>
            <a:pPr algn="ctr" indent="0" marL="0">
              <a:buNone/>
            </a:pPr>
            <a:r>
              <a:rPr lang="en-US" sz="1400" dirty="0">
                <a:solidFill>
                  <a:srgbClr val="1E2761"/>
                </a:solidFill>
                <a:latin typeface="Calibri" pitchFamily="34" charset="0"/>
                <a:ea typeface="Calibri" pitchFamily="34" charset="-122"/>
                <a:cs typeface="Calibri" pitchFamily="34" charset="-120"/>
              </a:rPr>
              <a:t>⚠️</a:t>
            </a:r>
            <a:endParaRPr lang="en-US" sz="1400" dirty="0"/>
          </a:p>
        </p:txBody>
      </p:sp>
      <p:sp>
        <p:nvSpPr>
          <p:cNvPr id="6" name="Text 4"/>
          <p:cNvSpPr txBox="1"/>
          <p:nvPr/>
        </p:nvSpPr>
        <p:spPr>
          <a:xfrm>
            <a:off x="1188720" y="1664208"/>
            <a:ext cx="1024128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Gemini free-tier quota as low as 20 requests/day</a:t>
            </a:r>
            <a:endParaRPr lang="en-US" sz="1500" dirty="0"/>
          </a:p>
        </p:txBody>
      </p:sp>
      <p:sp>
        <p:nvSpPr>
          <p:cNvPr id="7" name="Text 5"/>
          <p:cNvSpPr txBox="1"/>
          <p:nvPr/>
        </p:nvSpPr>
        <p:spPr>
          <a:xfrm>
            <a:off x="1188720" y="2057400"/>
            <a:ext cx="10241280" cy="960120"/>
          </a:xfrm>
          <a:prstGeom prst="rect">
            <a:avLst/>
          </a:prstGeom>
          <a:noFill/>
          <a:ln/>
        </p:spPr>
        <p:txBody>
          <a:bodyPr wrap="square" lIns="0" tIns="0" rIns="0" bIns="0" rtlCol="0" anchor="ctr"/>
          <a:lstStyle/>
          <a:p>
            <a:pPr indent="0" marL="0">
              <a:lnSpc>
                <a:spcPct val="120000"/>
              </a:lnSpc>
              <a:buNone/>
            </a:pPr>
            <a:r>
              <a:rPr lang="en-US" sz="1250" dirty="0">
                <a:solidFill>
                  <a:srgbClr val="1A1D2E"/>
                </a:solidFill>
                <a:latin typeface="Calibri" pitchFamily="34" charset="0"/>
                <a:ea typeface="Calibri" pitchFamily="34" charset="-122"/>
                <a:cs typeface="Calibri" pitchFamily="34" charset="-120"/>
              </a:rPr>
              <a:t>Discovered mid-evaluation when a working model suddenly 429'd. Fixed by making the evaluation script resumable — it saves after every question and skips completed ones — with backoff that honours the server's own retry delay.</a:t>
            </a:r>
            <a:endParaRPr lang="en-US" sz="1250" dirty="0"/>
          </a:p>
        </p:txBody>
      </p:sp>
      <p:sp>
        <p:nvSpPr>
          <p:cNvPr id="8" name="Shape 6"/>
          <p:cNvSpPr/>
          <p:nvPr/>
        </p:nvSpPr>
        <p:spPr>
          <a:xfrm>
            <a:off x="548640" y="3319272"/>
            <a:ext cx="457200" cy="457200"/>
          </a:xfrm>
          <a:prstGeom prst="ellipse">
            <a:avLst/>
          </a:prstGeom>
          <a:solidFill>
            <a:srgbClr val="F4F6FC"/>
          </a:solidFill>
          <a:ln/>
        </p:spPr>
      </p:sp>
      <p:sp>
        <p:nvSpPr>
          <p:cNvPr id="9" name="Text 7"/>
          <p:cNvSpPr txBox="1"/>
          <p:nvPr/>
        </p:nvSpPr>
        <p:spPr>
          <a:xfrm>
            <a:off x="548640" y="3319272"/>
            <a:ext cx="457200" cy="457200"/>
          </a:xfrm>
          <a:prstGeom prst="rect">
            <a:avLst/>
          </a:prstGeom>
          <a:noFill/>
          <a:ln/>
        </p:spPr>
        <p:txBody>
          <a:bodyPr wrap="square" lIns="0" tIns="0" rIns="0" bIns="0" rtlCol="0" anchor="ctr"/>
          <a:lstStyle/>
          <a:p>
            <a:pPr algn="ctr" indent="0" marL="0">
              <a:buNone/>
            </a:pPr>
            <a:r>
              <a:rPr lang="en-US" sz="1400" dirty="0">
                <a:solidFill>
                  <a:srgbClr val="1E2761"/>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188720" y="3291840"/>
            <a:ext cx="1024128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A dataset file was mislabeled</a:t>
            </a:r>
            <a:endParaRPr lang="en-US" sz="1500" dirty="0"/>
          </a:p>
        </p:txBody>
      </p:sp>
      <p:sp>
        <p:nvSpPr>
          <p:cNvPr id="11" name="Text 9"/>
          <p:cNvSpPr txBox="1"/>
          <p:nvPr/>
        </p:nvSpPr>
        <p:spPr>
          <a:xfrm>
            <a:off x="1188720" y="3685032"/>
            <a:ext cx="10241280" cy="960120"/>
          </a:xfrm>
          <a:prstGeom prst="rect">
            <a:avLst/>
          </a:prstGeom>
          <a:noFill/>
          <a:ln/>
        </p:spPr>
        <p:txBody>
          <a:bodyPr wrap="square" lIns="0" tIns="0" rIns="0" bIns="0" rtlCol="0" anchor="ctr"/>
          <a:lstStyle/>
          <a:p>
            <a:pPr indent="0" marL="0">
              <a:lnSpc>
                <a:spcPct val="120000"/>
              </a:lnSpc>
              <a:buNone/>
            </a:pPr>
            <a:r>
              <a:rPr lang="en-US" sz="1250" dirty="0">
                <a:solidFill>
                  <a:srgbClr val="1A1D2E"/>
                </a:solidFill>
                <a:latin typeface="Calibri" pitchFamily="34" charset="0"/>
                <a:ea typeface="Calibri" pitchFamily="34" charset="-122"/>
                <a:cs typeface="Calibri" pitchFamily="34" charset="-120"/>
              </a:rPr>
              <a:t>“RAG.pdf” in the provided dataset is actually SELF-RAG, not the original RAG paper. Caught when a test question about RAG-Sequence/RAG-Token was correctly refused — the model was right, the question was wrong. Fixed the filename and the question.</a:t>
            </a:r>
            <a:endParaRPr lang="en-US" sz="1250" dirty="0"/>
          </a:p>
        </p:txBody>
      </p:sp>
      <p:sp>
        <p:nvSpPr>
          <p:cNvPr id="12" name="Shape 10"/>
          <p:cNvSpPr/>
          <p:nvPr/>
        </p:nvSpPr>
        <p:spPr>
          <a:xfrm>
            <a:off x="548640" y="4946904"/>
            <a:ext cx="457200" cy="457200"/>
          </a:xfrm>
          <a:prstGeom prst="ellipse">
            <a:avLst/>
          </a:prstGeom>
          <a:solidFill>
            <a:srgbClr val="F4F6FC"/>
          </a:solidFill>
          <a:ln/>
        </p:spPr>
      </p:sp>
      <p:sp>
        <p:nvSpPr>
          <p:cNvPr id="13" name="Text 11"/>
          <p:cNvSpPr txBox="1"/>
          <p:nvPr/>
        </p:nvSpPr>
        <p:spPr>
          <a:xfrm>
            <a:off x="548640" y="4946904"/>
            <a:ext cx="457200" cy="457200"/>
          </a:xfrm>
          <a:prstGeom prst="rect">
            <a:avLst/>
          </a:prstGeom>
          <a:noFill/>
          <a:ln/>
        </p:spPr>
        <p:txBody>
          <a:bodyPr wrap="square" lIns="0" tIns="0" rIns="0" bIns="0" rtlCol="0" anchor="ctr"/>
          <a:lstStyle/>
          <a:p>
            <a:pPr algn="ctr" indent="0" marL="0">
              <a:buNone/>
            </a:pPr>
            <a:r>
              <a:rPr lang="en-US" sz="1400" dirty="0">
                <a:solidFill>
                  <a:srgbClr val="1E2761"/>
                </a:solidFill>
                <a:latin typeface="Calibri" pitchFamily="34" charset="0"/>
                <a:ea typeface="Calibri" pitchFamily="34" charset="-122"/>
                <a:cs typeface="Calibri" pitchFamily="34" charset="-120"/>
              </a:rPr>
              <a:t>🤔</a:t>
            </a:r>
            <a:endParaRPr lang="en-US" sz="1400" dirty="0"/>
          </a:p>
        </p:txBody>
      </p:sp>
      <p:sp>
        <p:nvSpPr>
          <p:cNvPr id="14" name="Text 12"/>
          <p:cNvSpPr txBox="1"/>
          <p:nvPr/>
        </p:nvSpPr>
        <p:spPr>
          <a:xfrm>
            <a:off x="1188720" y="4919472"/>
            <a:ext cx="1024128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An LLM-judge can be wrong in a findable way</a:t>
            </a:r>
            <a:endParaRPr lang="en-US" sz="1500" dirty="0"/>
          </a:p>
        </p:txBody>
      </p:sp>
      <p:sp>
        <p:nvSpPr>
          <p:cNvPr id="15" name="Text 13"/>
          <p:cNvSpPr txBox="1"/>
          <p:nvPr/>
        </p:nvSpPr>
        <p:spPr>
          <a:xfrm>
            <a:off x="1188720" y="5312664"/>
            <a:ext cx="10241280" cy="960120"/>
          </a:xfrm>
          <a:prstGeom prst="rect">
            <a:avLst/>
          </a:prstGeom>
          <a:noFill/>
          <a:ln/>
        </p:spPr>
        <p:txBody>
          <a:bodyPr wrap="square" lIns="0" tIns="0" rIns="0" bIns="0" rtlCol="0" anchor="ctr"/>
          <a:lstStyle/>
          <a:p>
            <a:pPr indent="0" marL="0">
              <a:lnSpc>
                <a:spcPct val="120000"/>
              </a:lnSpc>
              <a:buNone/>
            </a:pPr>
            <a:r>
              <a:rPr lang="en-US" sz="1250" dirty="0">
                <a:solidFill>
                  <a:srgbClr val="1A1D2E"/>
                </a:solidFill>
                <a:latin typeface="Calibri" pitchFamily="34" charset="0"/>
                <a:ea typeface="Calibri" pitchFamily="34" charset="-122"/>
                <a:cs typeface="Calibri" pitchFamily="34" charset="-120"/>
              </a:rPr>
              <a:t>The automated judge scored an incorrect refusal as fully relevant, since it only checks the answer's internal consistency, not whether the context actually held one. Reading raw answers, not just scores, caught this.</a:t>
            </a:r>
            <a:endParaRPr lang="en-US" sz="1250" dirty="0"/>
          </a:p>
        </p:txBody>
      </p:sp>
      <p:sp>
        <p:nvSpPr>
          <p:cNvPr id="16" name="Text 14"/>
          <p:cNvSpPr txBox="1"/>
          <p:nvPr/>
        </p:nvSpPr>
        <p:spPr>
          <a:xfrm>
            <a:off x="11365992" y="6355080"/>
            <a:ext cx="457200" cy="320040"/>
          </a:xfrm>
          <a:prstGeom prst="rect">
            <a:avLst/>
          </a:prstGeom>
          <a:noFill/>
          <a:ln/>
        </p:spPr>
        <p:txBody>
          <a:bodyPr wrap="square" rtlCol="0" anchor="ctr"/>
          <a:lstStyle/>
          <a:p>
            <a:pPr algn="r" indent="0" marL="0">
              <a:buNone/>
            </a:pPr>
            <a:r>
              <a:rPr lang="en-US" sz="1100" dirty="0">
                <a:solidFill>
                  <a:srgbClr val="5B6485"/>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822960" y="822960"/>
            <a:ext cx="91440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3" name="Text 1"/>
          <p:cNvSpPr txBox="1"/>
          <p:nvPr/>
        </p:nvSpPr>
        <p:spPr>
          <a:xfrm>
            <a:off x="822960" y="1828800"/>
            <a:ext cx="10058400" cy="4297680"/>
          </a:xfrm>
          <a:prstGeom prst="rect">
            <a:avLst/>
          </a:prstGeom>
          <a:noFill/>
          <a:ln/>
        </p:spPr>
        <p:txBody>
          <a:bodyPr wrap="square" lIns="0" tIns="0" rIns="0" bIns="0" rtlCol="0" anchor="ctr"/>
          <a:lstStyle/>
          <a:p>
            <a:pPr indent="0" marL="0">
              <a:lnSpc>
                <a:spcPct val="130000"/>
              </a:lnSpc>
              <a:buNone/>
            </a:pPr>
            <a:r>
              <a:rPr lang="en-US" sz="1600" b="1" dirty="0">
                <a:solidFill>
                  <a:srgbClr val="CADCFC"/>
                </a:solidFill>
                <a:latin typeface="Calibri" pitchFamily="34" charset="0"/>
                <a:ea typeface="Calibri" pitchFamily="34" charset="-122"/>
                <a:cs typeface="Calibri" pitchFamily="34" charset="-120"/>
              </a:rPr>
              <a:t>What was built
</a:t>
            </a:r>
            <a:endParaRPr lang="en-US" sz="1600" dirty="0"/>
          </a:p>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A full RAG pipeline over 6 GenAI papers: page-level PDF loading, 3 chunking strategies compared, 2 embedding models compared, 4 retrieval strategies compared, grounded generation with citations, and an honest quantitative evaluation — plus a polished Streamlit app with conversational memory.
</a:t>
            </a:r>
            <a:endParaRPr lang="en-US" sz="1600" dirty="0"/>
          </a:p>
          <a:p>
            <a:pPr indent="0" marL="0">
              <a:lnSpc>
                <a:spcPct val="130000"/>
              </a:lnSpc>
              <a:buNone/>
            </a:pPr>
            <a:r>
              <a:rPr lang="en-US" sz="1600" b="1" dirty="0">
                <a:solidFill>
                  <a:srgbClr val="CADCFC"/>
                </a:solidFill>
                <a:latin typeface="Calibri" pitchFamily="34" charset="0"/>
                <a:ea typeface="Calibri" pitchFamily="34" charset="-122"/>
                <a:cs typeface="Calibri" pitchFamily="34" charset="-120"/>
              </a:rPr>
              <a:t>What's next
</a:t>
            </a:r>
            <a:endParaRPr lang="en-US" sz="1600" dirty="0"/>
          </a:p>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 Fix the q1-style hedging failure with a context-completeness hint in the prompt
</a:t>
            </a:r>
            <a:endParaRPr lang="en-US" sz="1600" dirty="0"/>
          </a:p>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 Strengthen the LLM-judge to check context sufficiency before accepting a refusal
</a:t>
            </a:r>
            <a:endParaRPr lang="en-US" sz="1600" dirty="0"/>
          </a:p>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 Add Corrective RAG (web-search fallback) and a larger evaluation set</a:t>
            </a:r>
            <a:endParaRPr lang="en-US" sz="1600" dirty="0"/>
          </a:p>
        </p:txBody>
      </p:sp>
      <p:sp>
        <p:nvSpPr>
          <p:cNvPr id="4" name="Text 2"/>
          <p:cNvSpPr txBox="1"/>
          <p:nvPr/>
        </p:nvSpPr>
        <p:spPr>
          <a:xfrm>
            <a:off x="11365992" y="6355080"/>
            <a:ext cx="457200" cy="320040"/>
          </a:xfrm>
          <a:prstGeom prst="rect">
            <a:avLst/>
          </a:prstGeom>
          <a:noFill/>
          <a:ln/>
        </p:spPr>
        <p:txBody>
          <a:bodyPr wrap="square" rtlCol="0" anchor="ctr"/>
          <a:lstStyle/>
          <a:p>
            <a:pPr algn="r" indent="0" marL="0">
              <a:buNone/>
            </a:pPr>
            <a:r>
              <a:rPr lang="en-US" sz="1100" dirty="0">
                <a:solidFill>
                  <a:srgbClr val="5B6485"/>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2026-09-16T03:57:58Z</dcterms:created>
  <dcterms:modified xsi:type="dcterms:W3CDTF">2026-09-16T03:57:58Z</dcterms:modified>
</cp:coreProperties>
</file>